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2i0ag31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Aptos"/>
              </a:rPr>
              <a:t>tsp-quantum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6E0BD"/>
                </a:solidFill>
                <a:latin typeface="Aptos"/>
              </a:rPr>
              <a:t>Repository: tsp-quantum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sbm_zo9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E0BD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6596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1. Context and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E0BD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63239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2. Solution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E0BD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6052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3. Next Steps and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kch9qc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0" b="1">
                <a:solidFill>
                  <a:srgbClr val="16E0BD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"/>
              </a:rPr>
              <a:t>Chapter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ff_4nel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  <a:latin typeface="Aptos"/>
              </a:rPr>
              <a:t>Section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71426"/>
                </a:solidFill>
                <a:latin typeface="Aptos"/>
              </a:rPr>
              <a:t>Replace this with your slide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o4rmm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ptos"/>
              </a:rPr>
              <a:t>Our Team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040" y="1259433"/>
            <a:ext cx="1233220" cy="1233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Agile Coach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095" y="1259433"/>
            <a:ext cx="1233220" cy="12332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12694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AI Expert</a:t>
            </a:r>
          </a:p>
        </p:txBody>
      </p:sp>
      <p:pic>
        <p:nvPicPr>
          <p:cNvPr id="8" name="Picture 7" descr="ppt-polaroid-portrait-9ptj4thn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64149" y="1259433"/>
            <a:ext cx="1233220" cy="12332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76748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Container Expert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204" y="1259433"/>
            <a:ext cx="1233220" cy="12332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40803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 Scientist</a:t>
            </a:r>
          </a:p>
        </p:txBody>
      </p:sp>
      <p:pic>
        <p:nvPicPr>
          <p:cNvPr id="12" name="Picture 11" descr="ppt-polaroid-portrait-5jfc2n66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92258" y="1259433"/>
            <a:ext cx="1233220" cy="12332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4857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Fullstack Engineer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6040" y="3072993"/>
            <a:ext cx="1233220" cy="12332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Kubernetes Expert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095" y="3072993"/>
            <a:ext cx="1233220" cy="12332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12694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MCP Expert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4149" y="3072993"/>
            <a:ext cx="1233220" cy="12332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76748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Platform Architect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8204" y="3072993"/>
            <a:ext cx="1233220" cy="12332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40803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Pull Request Reviewer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2258" y="3072993"/>
            <a:ext cx="1233220" cy="12332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4857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Quality Expert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6040" y="4886553"/>
            <a:ext cx="1233220" cy="12332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48640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Quantum Expert</a:t>
            </a:r>
          </a:p>
        </p:txBody>
      </p:sp>
      <p:pic>
        <p:nvPicPr>
          <p:cNvPr id="26" name="Picture 25" descr="ppt-polaroid-portrait-lerrh5ll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00095" y="4886553"/>
            <a:ext cx="1233220" cy="12332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12694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Security Expert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4149" y="4886553"/>
            <a:ext cx="1233220" cy="12332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76748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User Standard</a:t>
            </a:r>
          </a:p>
        </p:txBody>
      </p:sp>
      <p:pic>
        <p:nvPicPr>
          <p:cNvPr id="30" name="Picture 29" descr="ppt-polaroid-portrait-ivcync0g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28204" y="4886553"/>
            <a:ext cx="1233220" cy="12332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340803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UX Designer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4ivxux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6E0BD"/>
                </a:solidFill>
                <a:latin typeface="Aptos"/>
              </a:rPr>
              <a:t>Questions? Let's talk.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h59oak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Aptos"/>
              </a:rPr>
              <a:t>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1592427" y="1280160"/>
            <a:ext cx="1234440" cy="123444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242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Dark Navy</a:t>
            </a:r>
          </a:p>
        </p:txBody>
      </p:sp>
      <p:sp>
        <p:nvSpPr>
          <p:cNvPr id="6" name="Rectangle 5"/>
          <p:cNvSpPr/>
          <p:nvPr/>
        </p:nvSpPr>
        <p:spPr>
          <a:xfrm>
            <a:off x="3146907" y="1280160"/>
            <a:ext cx="1234440" cy="123444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4690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Deep Blue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1387" y="1280160"/>
            <a:ext cx="1234440" cy="1234440"/>
          </a:xfrm>
          <a:prstGeom prst="rect">
            <a:avLst/>
          </a:prstGeom>
          <a:solidFill>
            <a:srgbClr val="16E0BD"/>
          </a:solidFill>
          <a:ln>
            <a:solidFill>
              <a:srgbClr val="16E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138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Teal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1234440" cy="1234440"/>
          </a:xfrm>
          <a:prstGeom prst="rect">
            <a:avLst/>
          </a:prstGeom>
          <a:solidFill>
            <a:srgbClr val="59B3FF"/>
          </a:solidFill>
          <a:ln>
            <a:solidFill>
              <a:srgbClr val="59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586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Sky Blue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0347" y="1280160"/>
            <a:ext cx="1234440" cy="12344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034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Navy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64827" y="1280160"/>
            <a:ext cx="1234440" cy="123444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482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Green Teal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546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ptos"/>
              </a:rPr>
              <a:t>Typography Specification (Live Samples)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1188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71426"/>
                </a:solidFill>
                <a:latin typeface="Aptos Display"/>
              </a:rPr>
              <a:t>Aptos Display Bold 34 pt  |  Enterprise Presentation Title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2452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ptos"/>
              </a:rPr>
              <a:t>Aptos SemiBold 22 pt  |  Agenda, chapter and key section headings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7316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071426"/>
                </a:solidFill>
                <a:latin typeface="Aptos"/>
              </a:rPr>
              <a:t>Aptos Regular 16 pt  |  Body text and explanatory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03520"/>
            <a:ext cx="102412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F4E79"/>
                </a:solidFill>
                <a:latin typeface="Calibri"/>
              </a:rPr>
              <a:t>Fallback for compatibility: Calibri (Office default fallback)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2i0ag31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This project specification outlines the exploration of both classical and quantum-inspired methods for solving the Traveling Salesman Problem (TSP). It includes an overview of the problem, target audiences, project goals, notebook structure, implementation det.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</a:rPr>
              <a:t>Decision-ready project briefing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</a:rPr>
              <a:t>Focus: compare classical and quantum-inspired TSP approaches with transparent trade-offs.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</a:rPr>
              <a:t>Outcome: align implementation scope, evidence, and next decisions for delivery.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sbm_zo9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Agenda and Scope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71600" y="196596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</a:rPr>
              <a:t>1. Executive Summary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</a:rPr>
              <a:t>2. Current Context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</a:rPr>
              <a:t>3. Scope and Delivery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71600" y="3063239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71600" y="416052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kch9qc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</a:rPr>
              <a:t>The Project stage aligns validated context into a coherent, delivery-ready project report.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</a:rPr>
              <a:t>This cycle aims to ensure that at least one thematic epic can be derived from aggregated context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ff_4nel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This project specification outlines the exploration of both classical and quantum-inspired metho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Quantum vs Classical Approaches to the Traveling Salesman Problem (TSP).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Current Context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ff_4nel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Goals: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Scope boundaries: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In Scope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This project specification outlines the exploration of both classical and quantum-inspired metho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Quantum vs Classical Approaches to the Traveling Salesman Problem (TSP)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Given a set of cities and distances between them, find the shortest possible route that visits 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Out of Scope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Exclude assumptions without supporting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Scope and Delivery Focus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ff_4nel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Constraints: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Readiness summary: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Open questions: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71426"/>
                </a:solidFill>
              </a:rPr>
              <a:t>none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Constraints, Risks, and Next Step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o4rmm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ptos"/>
              </a:rPr>
              <a:t>Our Team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040" y="1259433"/>
            <a:ext cx="1233220" cy="1233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Agile Coach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095" y="1259433"/>
            <a:ext cx="1233220" cy="12332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12694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AI Expert</a:t>
            </a:r>
          </a:p>
        </p:txBody>
      </p:sp>
      <p:pic>
        <p:nvPicPr>
          <p:cNvPr id="8" name="Picture 7" descr="ppt-polaroid-portrait-9ptj4thn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64149" y="1259433"/>
            <a:ext cx="1233220" cy="12332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76748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Container Expert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204" y="1259433"/>
            <a:ext cx="1233220" cy="12332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40803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 Scientist</a:t>
            </a:r>
          </a:p>
        </p:txBody>
      </p:sp>
      <p:pic>
        <p:nvPicPr>
          <p:cNvPr id="12" name="Picture 11" descr="ppt-polaroid-portrait-5jfc2n66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92258" y="1259433"/>
            <a:ext cx="1233220" cy="12332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4857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Fullstack Engineer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6040" y="3072993"/>
            <a:ext cx="1233220" cy="12332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Kubernetes Expert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095" y="3072993"/>
            <a:ext cx="1233220" cy="12332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12694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MCP Expert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4149" y="3072993"/>
            <a:ext cx="1233220" cy="12332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76748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Platform Architect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8204" y="3072993"/>
            <a:ext cx="1233220" cy="12332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40803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Pull Request Reviewer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2258" y="3072993"/>
            <a:ext cx="1233220" cy="12332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4857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Quality Expert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6040" y="4886553"/>
            <a:ext cx="1233220" cy="12332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48640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Quantum Expert</a:t>
            </a:r>
          </a:p>
        </p:txBody>
      </p:sp>
      <p:pic>
        <p:nvPicPr>
          <p:cNvPr id="26" name="Picture 25" descr="ppt-polaroid-portrait-lerrh5ll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00095" y="4886553"/>
            <a:ext cx="1233220" cy="12332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12694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Security Expert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4149" y="4886553"/>
            <a:ext cx="1233220" cy="12332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76748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User Standard</a:t>
            </a:r>
          </a:p>
        </p:txBody>
      </p:sp>
      <p:pic>
        <p:nvPicPr>
          <p:cNvPr id="30" name="Picture 29" descr="ppt-polaroid-portrait-ivcync0g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28204" y="4886553"/>
            <a:ext cx="1233220" cy="12332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340803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UX Designer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4ivxux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Thank You and Next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</a:rPr>
              <a:t>Next step: confirm owners, close blockers, and approve the next delivery checkpoint status.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16E0BD"/>
                </a:solidFill>
                <a:latin typeface="Aptos Display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5E7EB"/>
                </a:solidFill>
                <a:latin typeface="Aptos"/>
              </a:rPr>
              <a:t>Template source slides below — for reference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