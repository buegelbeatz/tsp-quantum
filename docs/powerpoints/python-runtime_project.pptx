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3" r:id="rId14"/>
    <p:sldId id="264" r:id="rId15"/>
    <p:sldId id="265" r:id="rId16"/>
    <p:sldId id="266" r:id="rId17"/>
    <p:sldId id="267" r:id="rId18"/>
    <p:sldId id="268" r:id="rId19"/>
    <p:sldId id="269" r:id="rId20"/>
    <p:sldId id="270" r:id="rId21"/>
    <p:sldId id="271" r:id="rId22"/>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 Id="rId16" Type="http://schemas.openxmlformats.org/officeDocument/2006/relationships/image" Target="../media/image21.png"/><Relationship Id="rId17" Type="http://schemas.openxmlformats.org/officeDocument/2006/relationships/image" Target="../media/image22.pn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 Id="rId16" Type="http://schemas.openxmlformats.org/officeDocument/2006/relationships/image" Target="../media/image21.png"/><Relationship Id="rId17" Type="http://schemas.openxmlformats.org/officeDocument/2006/relationships/image" Target="../media/image22.pn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2i0ag31u.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645920"/>
            <a:ext cx="10515600" cy="1463040"/>
          </a:xfrm>
          <a:prstGeom prst="rect">
            <a:avLst/>
          </a:prstGeom>
          <a:noFill/>
        </p:spPr>
        <p:txBody>
          <a:bodyPr wrap="none">
            <a:spAutoFit/>
          </a:bodyPr>
          <a:lstStyle/>
          <a:p>
            <a:r>
              <a:rPr sz="5400" b="1">
                <a:solidFill>
                  <a:srgbClr val="FFFFFF"/>
                </a:solidFill>
                <a:latin typeface="Aptos"/>
              </a:rPr>
              <a:t>python-runtime</a:t>
            </a:r>
          </a:p>
        </p:txBody>
      </p:sp>
      <p:sp>
        <p:nvSpPr>
          <p:cNvPr id="4" name="TextBox 3"/>
          <p:cNvSpPr txBox="1"/>
          <p:nvPr/>
        </p:nvSpPr>
        <p:spPr>
          <a:xfrm>
            <a:off x="731520" y="3291840"/>
            <a:ext cx="10241280" cy="731520"/>
          </a:xfrm>
          <a:prstGeom prst="rect">
            <a:avLst/>
          </a:prstGeom>
          <a:noFill/>
        </p:spPr>
        <p:txBody>
          <a:bodyPr wrap="none">
            <a:spAutoFit/>
          </a:bodyPr>
          <a:lstStyle/>
          <a:p>
            <a:r>
              <a:rPr sz="2200" b="0">
                <a:solidFill>
                  <a:srgbClr val="16E0BD"/>
                </a:solidFill>
                <a:latin typeface="Aptos"/>
              </a:rPr>
              <a:t>Repository: digital-generic-team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sbm_zo9q.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731520"/>
            <a:ext cx="10515600" cy="822960"/>
          </a:xfrm>
          <a:prstGeom prst="rect">
            <a:avLst/>
          </a:prstGeom>
          <a:noFill/>
        </p:spPr>
        <p:txBody>
          <a:bodyPr wrap="none">
            <a:spAutoFit/>
          </a:bodyPr>
          <a:lstStyle/>
          <a:p>
            <a:r>
              <a:rPr sz="4000" b="1">
                <a:solidFill>
                  <a:srgbClr val="FFFFFF"/>
                </a:solidFill>
                <a:latin typeface="Aptos"/>
              </a:rPr>
              <a:t>Agenda</a:t>
            </a:r>
          </a:p>
        </p:txBody>
      </p:sp>
      <p:sp>
        <p:nvSpPr>
          <p:cNvPr id="4" name="TextBox 3"/>
          <p:cNvSpPr txBox="1"/>
          <p:nvPr/>
        </p:nvSpPr>
        <p:spPr>
          <a:xfrm>
            <a:off x="914400" y="1920240"/>
            <a:ext cx="457200" cy="640080"/>
          </a:xfrm>
          <a:prstGeom prst="rect">
            <a:avLst/>
          </a:prstGeom>
          <a:noFill/>
        </p:spPr>
        <p:txBody>
          <a:bodyPr wrap="none">
            <a:spAutoFit/>
          </a:bodyPr>
          <a:lstStyle/>
          <a:p>
            <a:r>
              <a:rPr sz="3000" b="1">
                <a:solidFill>
                  <a:srgbClr val="16E0BD"/>
                </a:solidFill>
                <a:latin typeface="Aptos"/>
              </a:rPr>
              <a:t>•</a:t>
            </a:r>
          </a:p>
        </p:txBody>
      </p:sp>
      <p:sp>
        <p:nvSpPr>
          <p:cNvPr id="5" name="TextBox 4"/>
          <p:cNvSpPr txBox="1"/>
          <p:nvPr/>
        </p:nvSpPr>
        <p:spPr>
          <a:xfrm>
            <a:off x="1371600" y="1965960"/>
            <a:ext cx="9784080" cy="640080"/>
          </a:xfrm>
          <a:prstGeom prst="rect">
            <a:avLst/>
          </a:prstGeom>
          <a:noFill/>
        </p:spPr>
        <p:txBody>
          <a:bodyPr wrap="none">
            <a:spAutoFit/>
          </a:bodyPr>
          <a:lstStyle/>
          <a:p>
            <a:r>
              <a:rPr sz="2700" b="1">
                <a:solidFill>
                  <a:srgbClr val="FFFFFF"/>
                </a:solidFill>
                <a:latin typeface="Aptos"/>
              </a:rPr>
              <a:t>1. Context and Objectives</a:t>
            </a:r>
          </a:p>
        </p:txBody>
      </p:sp>
      <p:sp>
        <p:nvSpPr>
          <p:cNvPr id="6" name="TextBox 5"/>
          <p:cNvSpPr txBox="1"/>
          <p:nvPr/>
        </p:nvSpPr>
        <p:spPr>
          <a:xfrm>
            <a:off x="914400" y="3017520"/>
            <a:ext cx="457200" cy="640080"/>
          </a:xfrm>
          <a:prstGeom prst="rect">
            <a:avLst/>
          </a:prstGeom>
          <a:noFill/>
        </p:spPr>
        <p:txBody>
          <a:bodyPr wrap="none">
            <a:spAutoFit/>
          </a:bodyPr>
          <a:lstStyle/>
          <a:p>
            <a:r>
              <a:rPr sz="3000" b="1">
                <a:solidFill>
                  <a:srgbClr val="16E0BD"/>
                </a:solidFill>
                <a:latin typeface="Aptos"/>
              </a:rPr>
              <a:t>•</a:t>
            </a:r>
          </a:p>
        </p:txBody>
      </p:sp>
      <p:sp>
        <p:nvSpPr>
          <p:cNvPr id="7" name="TextBox 6"/>
          <p:cNvSpPr txBox="1"/>
          <p:nvPr/>
        </p:nvSpPr>
        <p:spPr>
          <a:xfrm>
            <a:off x="1371600" y="3063239"/>
            <a:ext cx="9784080" cy="640080"/>
          </a:xfrm>
          <a:prstGeom prst="rect">
            <a:avLst/>
          </a:prstGeom>
          <a:noFill/>
        </p:spPr>
        <p:txBody>
          <a:bodyPr wrap="none">
            <a:spAutoFit/>
          </a:bodyPr>
          <a:lstStyle/>
          <a:p>
            <a:r>
              <a:rPr sz="2700" b="1">
                <a:solidFill>
                  <a:srgbClr val="FFFFFF"/>
                </a:solidFill>
                <a:latin typeface="Aptos"/>
              </a:rPr>
              <a:t>2. Solution Overview</a:t>
            </a:r>
          </a:p>
        </p:txBody>
      </p:sp>
      <p:sp>
        <p:nvSpPr>
          <p:cNvPr id="8" name="TextBox 7"/>
          <p:cNvSpPr txBox="1"/>
          <p:nvPr/>
        </p:nvSpPr>
        <p:spPr>
          <a:xfrm>
            <a:off x="914400" y="4114800"/>
            <a:ext cx="457200" cy="640080"/>
          </a:xfrm>
          <a:prstGeom prst="rect">
            <a:avLst/>
          </a:prstGeom>
          <a:noFill/>
        </p:spPr>
        <p:txBody>
          <a:bodyPr wrap="none">
            <a:spAutoFit/>
          </a:bodyPr>
          <a:lstStyle/>
          <a:p>
            <a:r>
              <a:rPr sz="3000" b="1">
                <a:solidFill>
                  <a:srgbClr val="16E0BD"/>
                </a:solidFill>
                <a:latin typeface="Aptos"/>
              </a:rPr>
              <a:t>•</a:t>
            </a:r>
          </a:p>
        </p:txBody>
      </p:sp>
      <p:sp>
        <p:nvSpPr>
          <p:cNvPr id="9" name="TextBox 8"/>
          <p:cNvSpPr txBox="1"/>
          <p:nvPr/>
        </p:nvSpPr>
        <p:spPr>
          <a:xfrm>
            <a:off x="1371600" y="4160520"/>
            <a:ext cx="9784080" cy="640080"/>
          </a:xfrm>
          <a:prstGeom prst="rect">
            <a:avLst/>
          </a:prstGeom>
          <a:noFill/>
        </p:spPr>
        <p:txBody>
          <a:bodyPr wrap="none">
            <a:spAutoFit/>
          </a:bodyPr>
          <a:lstStyle/>
          <a:p>
            <a:r>
              <a:rPr sz="2700" b="1">
                <a:solidFill>
                  <a:srgbClr val="FFFFFF"/>
                </a:solidFill>
                <a:latin typeface="Aptos"/>
              </a:rPr>
              <a:t>3. Next Steps and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kch9qc0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463040"/>
            <a:ext cx="10515600" cy="1828800"/>
          </a:xfrm>
          <a:prstGeom prst="rect">
            <a:avLst/>
          </a:prstGeom>
          <a:noFill/>
        </p:spPr>
        <p:txBody>
          <a:bodyPr wrap="none">
            <a:spAutoFit/>
          </a:bodyPr>
          <a:lstStyle/>
          <a:p>
            <a:r>
              <a:rPr sz="9600" b="1">
                <a:solidFill>
                  <a:srgbClr val="16E0BD"/>
                </a:solidFill>
                <a:latin typeface="Aptos"/>
              </a:rPr>
              <a:t>01</a:t>
            </a:r>
          </a:p>
        </p:txBody>
      </p:sp>
      <p:sp>
        <p:nvSpPr>
          <p:cNvPr id="4" name="TextBox 3"/>
          <p:cNvSpPr txBox="1"/>
          <p:nvPr/>
        </p:nvSpPr>
        <p:spPr>
          <a:xfrm>
            <a:off x="731520" y="3474720"/>
            <a:ext cx="10515600" cy="1097280"/>
          </a:xfrm>
          <a:prstGeom prst="rect">
            <a:avLst/>
          </a:prstGeom>
          <a:noFill/>
        </p:spPr>
        <p:txBody>
          <a:bodyPr wrap="none">
            <a:spAutoFit/>
          </a:bodyPr>
          <a:lstStyle/>
          <a:p>
            <a:r>
              <a:rPr sz="4000" b="1">
                <a:solidFill>
                  <a:srgbClr val="FFFFFF"/>
                </a:solidFill>
                <a:latin typeface="Aptos"/>
              </a:rPr>
              <a:t>Chapter Title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ff_4nel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457200"/>
            <a:ext cx="10515600" cy="822960"/>
          </a:xfrm>
          <a:prstGeom prst="rect">
            <a:avLst/>
          </a:prstGeom>
          <a:noFill/>
        </p:spPr>
        <p:txBody>
          <a:bodyPr wrap="none">
            <a:spAutoFit/>
          </a:bodyPr>
          <a:lstStyle/>
          <a:p>
            <a:r>
              <a:rPr sz="3200" b="1">
                <a:solidFill>
                  <a:srgbClr val="1F4E79"/>
                </a:solidFill>
                <a:latin typeface="Aptos"/>
              </a:rPr>
              <a:t>Section Title</a:t>
            </a:r>
          </a:p>
        </p:txBody>
      </p:sp>
      <p:sp>
        <p:nvSpPr>
          <p:cNvPr id="4" name="TextBox 3"/>
          <p:cNvSpPr txBox="1"/>
          <p:nvPr/>
        </p:nvSpPr>
        <p:spPr>
          <a:xfrm>
            <a:off x="731520" y="1463040"/>
            <a:ext cx="10607040" cy="4846320"/>
          </a:xfrm>
          <a:prstGeom prst="rect">
            <a:avLst/>
          </a:prstGeom>
          <a:noFill/>
        </p:spPr>
        <p:txBody>
          <a:bodyPr wrap="none">
            <a:spAutoFit/>
          </a:bodyPr>
          <a:lstStyle/>
          <a:p>
            <a:r>
              <a:rPr sz="1800" b="0">
                <a:solidFill>
                  <a:srgbClr val="071426"/>
                </a:solidFill>
                <a:latin typeface="Aptos"/>
              </a:rPr>
              <a:t>Replace this with your slide content.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o4rmmhow.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20040"/>
            <a:ext cx="10515600" cy="731520"/>
          </a:xfrm>
          <a:prstGeom prst="rect">
            <a:avLst/>
          </a:prstGeom>
          <a:noFill/>
        </p:spPr>
        <p:txBody>
          <a:bodyPr wrap="none">
            <a:spAutoFit/>
          </a:bodyPr>
          <a:lstStyle/>
          <a:p>
            <a:r>
              <a:rPr sz="3200" b="1">
                <a:solidFill>
                  <a:srgbClr val="FFFFFF"/>
                </a:solidFill>
                <a:latin typeface="Aptos"/>
              </a:rPr>
              <a:t>Our Team</a:t>
            </a:r>
          </a:p>
        </p:txBody>
      </p:sp>
      <p:pic>
        <p:nvPicPr>
          <p:cNvPr id="4" name="Picture 3" descr="ppt-polaroid-portrait-4rfuhvuu.png"/>
          <p:cNvPicPr>
            <a:picLocks noChangeAspect="1"/>
          </p:cNvPicPr>
          <p:nvPr/>
        </p:nvPicPr>
        <p:blipFill>
          <a:blip r:embed="rId18"/>
          <a:stretch>
            <a:fillRect/>
          </a:stretch>
        </p:blipFill>
        <p:spPr>
          <a:xfrm>
            <a:off x="936040" y="1259433"/>
            <a:ext cx="1233220" cy="1233220"/>
          </a:xfrm>
          <a:prstGeom prst="rect">
            <a:avLst/>
          </a:prstGeom>
        </p:spPr>
      </p:pic>
      <p:sp>
        <p:nvSpPr>
          <p:cNvPr id="5" name="TextBox 4"/>
          <p:cNvSpPr txBox="1"/>
          <p:nvPr/>
        </p:nvSpPr>
        <p:spPr>
          <a:xfrm>
            <a:off x="548640" y="2565806"/>
            <a:ext cx="2008022" cy="274320"/>
          </a:xfrm>
          <a:prstGeom prst="rect">
            <a:avLst/>
          </a:prstGeom>
          <a:noFill/>
        </p:spPr>
        <p:txBody>
          <a:bodyPr wrap="none">
            <a:spAutoFit/>
          </a:bodyPr>
          <a:lstStyle/>
          <a:p>
            <a:pPr algn="ctr"/>
            <a:r>
              <a:rPr sz="1200" b="1">
                <a:solidFill>
                  <a:srgbClr val="FFFFFF"/>
                </a:solidFill>
                <a:latin typeface="Aptos"/>
              </a:rPr>
              <a:t>Agile Coach</a:t>
            </a:r>
          </a:p>
        </p:txBody>
      </p:sp>
      <p:pic>
        <p:nvPicPr>
          <p:cNvPr id="6" name="Picture 5" descr="image.png"/>
          <p:cNvPicPr>
            <a:picLocks noChangeAspect="1"/>
          </p:cNvPicPr>
          <p:nvPr/>
        </p:nvPicPr>
        <p:blipFill>
          <a:blip r:embed="rId5"/>
          <a:stretch>
            <a:fillRect/>
          </a:stretch>
        </p:blipFill>
        <p:spPr>
          <a:xfrm>
            <a:off x="3200095" y="1259433"/>
            <a:ext cx="1233220" cy="1233220"/>
          </a:xfrm>
          <a:prstGeom prst="rect">
            <a:avLst/>
          </a:prstGeom>
        </p:spPr>
      </p:pic>
      <p:sp>
        <p:nvSpPr>
          <p:cNvPr id="7" name="TextBox 6"/>
          <p:cNvSpPr txBox="1"/>
          <p:nvPr/>
        </p:nvSpPr>
        <p:spPr>
          <a:xfrm>
            <a:off x="2812694" y="2565806"/>
            <a:ext cx="2008022" cy="274320"/>
          </a:xfrm>
          <a:prstGeom prst="rect">
            <a:avLst/>
          </a:prstGeom>
          <a:noFill/>
        </p:spPr>
        <p:txBody>
          <a:bodyPr wrap="none">
            <a:spAutoFit/>
          </a:bodyPr>
          <a:lstStyle/>
          <a:p>
            <a:pPr algn="ctr"/>
            <a:r>
              <a:rPr sz="1200" b="1">
                <a:solidFill>
                  <a:srgbClr val="FFFFFF"/>
                </a:solidFill>
                <a:latin typeface="Aptos"/>
              </a:rPr>
              <a:t>AI Expert</a:t>
            </a:r>
          </a:p>
        </p:txBody>
      </p:sp>
      <p:pic>
        <p:nvPicPr>
          <p:cNvPr id="8" name="Picture 7" descr="ppt-polaroid-portrait-e3mdnr2r.png"/>
          <p:cNvPicPr>
            <a:picLocks noChangeAspect="1"/>
          </p:cNvPicPr>
          <p:nvPr/>
        </p:nvPicPr>
        <p:blipFill>
          <a:blip r:embed="rId19"/>
          <a:stretch>
            <a:fillRect/>
          </a:stretch>
        </p:blipFill>
        <p:spPr>
          <a:xfrm>
            <a:off x="5464149" y="1259433"/>
            <a:ext cx="1233220" cy="1233220"/>
          </a:xfrm>
          <a:prstGeom prst="rect">
            <a:avLst/>
          </a:prstGeom>
        </p:spPr>
      </p:pic>
      <p:sp>
        <p:nvSpPr>
          <p:cNvPr id="9" name="TextBox 8"/>
          <p:cNvSpPr txBox="1"/>
          <p:nvPr/>
        </p:nvSpPr>
        <p:spPr>
          <a:xfrm>
            <a:off x="5076748" y="2565806"/>
            <a:ext cx="2008022" cy="274320"/>
          </a:xfrm>
          <a:prstGeom prst="rect">
            <a:avLst/>
          </a:prstGeom>
          <a:noFill/>
        </p:spPr>
        <p:txBody>
          <a:bodyPr wrap="none">
            <a:spAutoFit/>
          </a:bodyPr>
          <a:lstStyle/>
          <a:p>
            <a:pPr algn="ctr"/>
            <a:r>
              <a:rPr sz="1200" b="1">
                <a:solidFill>
                  <a:srgbClr val="FFFFFF"/>
                </a:solidFill>
                <a:latin typeface="Aptos"/>
              </a:rPr>
              <a:t>Container Expert</a:t>
            </a:r>
          </a:p>
        </p:txBody>
      </p:sp>
      <p:pic>
        <p:nvPicPr>
          <p:cNvPr id="10" name="Picture 9" descr="ppt-polaroid-portrait-rdmiuw8j.png"/>
          <p:cNvPicPr>
            <a:picLocks noChangeAspect="1"/>
          </p:cNvPicPr>
          <p:nvPr/>
        </p:nvPicPr>
        <p:blipFill>
          <a:blip r:embed="rId20"/>
          <a:stretch>
            <a:fillRect/>
          </a:stretch>
        </p:blipFill>
        <p:spPr>
          <a:xfrm>
            <a:off x="7728204" y="1259433"/>
            <a:ext cx="1233220" cy="1233220"/>
          </a:xfrm>
          <a:prstGeom prst="rect">
            <a:avLst/>
          </a:prstGeom>
        </p:spPr>
      </p:pic>
      <p:sp>
        <p:nvSpPr>
          <p:cNvPr id="11" name="TextBox 10"/>
          <p:cNvSpPr txBox="1"/>
          <p:nvPr/>
        </p:nvSpPr>
        <p:spPr>
          <a:xfrm>
            <a:off x="7340803" y="2565806"/>
            <a:ext cx="2008022" cy="274320"/>
          </a:xfrm>
          <a:prstGeom prst="rect">
            <a:avLst/>
          </a:prstGeom>
          <a:noFill/>
        </p:spPr>
        <p:txBody>
          <a:bodyPr wrap="none">
            <a:spAutoFit/>
          </a:bodyPr>
          <a:lstStyle/>
          <a:p>
            <a:pPr algn="ctr"/>
            <a:r>
              <a:rPr sz="1200" b="1">
                <a:solidFill>
                  <a:srgbClr val="FFFFFF"/>
                </a:solidFill>
                <a:latin typeface="Aptos"/>
              </a:rPr>
              <a:t>Data Scientist</a:t>
            </a:r>
          </a:p>
        </p:txBody>
      </p:sp>
      <p:pic>
        <p:nvPicPr>
          <p:cNvPr id="12" name="Picture 11" descr="image.png"/>
          <p:cNvPicPr>
            <a:picLocks noChangeAspect="1"/>
          </p:cNvPicPr>
          <p:nvPr/>
        </p:nvPicPr>
        <p:blipFill>
          <a:blip r:embed="rId12"/>
          <a:stretch>
            <a:fillRect/>
          </a:stretch>
        </p:blipFill>
        <p:spPr>
          <a:xfrm>
            <a:off x="9992258" y="1259433"/>
            <a:ext cx="1233220" cy="1233220"/>
          </a:xfrm>
          <a:prstGeom prst="rect">
            <a:avLst/>
          </a:prstGeom>
        </p:spPr>
      </p:pic>
      <p:sp>
        <p:nvSpPr>
          <p:cNvPr id="13" name="TextBox 12"/>
          <p:cNvSpPr txBox="1"/>
          <p:nvPr/>
        </p:nvSpPr>
        <p:spPr>
          <a:xfrm>
            <a:off x="9604857" y="2565806"/>
            <a:ext cx="2008022" cy="274320"/>
          </a:xfrm>
          <a:prstGeom prst="rect">
            <a:avLst/>
          </a:prstGeom>
          <a:noFill/>
        </p:spPr>
        <p:txBody>
          <a:bodyPr wrap="none">
            <a:spAutoFit/>
          </a:bodyPr>
          <a:lstStyle/>
          <a:p>
            <a:pPr algn="ctr"/>
            <a:r>
              <a:rPr sz="1200" b="1">
                <a:solidFill>
                  <a:srgbClr val="FFFFFF"/>
                </a:solidFill>
                <a:latin typeface="Aptos"/>
              </a:rPr>
              <a:t>Fullstack Engineer</a:t>
            </a:r>
          </a:p>
        </p:txBody>
      </p:sp>
      <p:pic>
        <p:nvPicPr>
          <p:cNvPr id="14" name="Picture 13" descr="image.png"/>
          <p:cNvPicPr>
            <a:picLocks noChangeAspect="1"/>
          </p:cNvPicPr>
          <p:nvPr/>
        </p:nvPicPr>
        <p:blipFill>
          <a:blip r:embed="rId14"/>
          <a:stretch>
            <a:fillRect/>
          </a:stretch>
        </p:blipFill>
        <p:spPr>
          <a:xfrm>
            <a:off x="936040" y="3072993"/>
            <a:ext cx="1233220" cy="1233220"/>
          </a:xfrm>
          <a:prstGeom prst="rect">
            <a:avLst/>
          </a:prstGeom>
        </p:spPr>
      </p:pic>
      <p:sp>
        <p:nvSpPr>
          <p:cNvPr id="15" name="TextBox 14"/>
          <p:cNvSpPr txBox="1"/>
          <p:nvPr/>
        </p:nvSpPr>
        <p:spPr>
          <a:xfrm>
            <a:off x="548640" y="4379366"/>
            <a:ext cx="2008022" cy="274320"/>
          </a:xfrm>
          <a:prstGeom prst="rect">
            <a:avLst/>
          </a:prstGeom>
          <a:noFill/>
        </p:spPr>
        <p:txBody>
          <a:bodyPr wrap="none">
            <a:spAutoFit/>
          </a:bodyPr>
          <a:lstStyle/>
          <a:p>
            <a:pPr algn="ctr"/>
            <a:r>
              <a:rPr sz="1200" b="1">
                <a:solidFill>
                  <a:srgbClr val="FFFFFF"/>
                </a:solidFill>
                <a:latin typeface="Aptos"/>
              </a:rPr>
              <a:t>Kubernetes Expert</a:t>
            </a:r>
          </a:p>
        </p:txBody>
      </p:sp>
      <p:pic>
        <p:nvPicPr>
          <p:cNvPr id="16" name="Picture 15" descr="image.png"/>
          <p:cNvPicPr>
            <a:picLocks noChangeAspect="1"/>
          </p:cNvPicPr>
          <p:nvPr/>
        </p:nvPicPr>
        <p:blipFill>
          <a:blip r:embed="rId11"/>
          <a:stretch>
            <a:fillRect/>
          </a:stretch>
        </p:blipFill>
        <p:spPr>
          <a:xfrm>
            <a:off x="3200095" y="3072993"/>
            <a:ext cx="1233220" cy="1233220"/>
          </a:xfrm>
          <a:prstGeom prst="rect">
            <a:avLst/>
          </a:prstGeom>
        </p:spPr>
      </p:pic>
      <p:sp>
        <p:nvSpPr>
          <p:cNvPr id="17" name="TextBox 16"/>
          <p:cNvSpPr txBox="1"/>
          <p:nvPr/>
        </p:nvSpPr>
        <p:spPr>
          <a:xfrm>
            <a:off x="2812694" y="4379366"/>
            <a:ext cx="2008022" cy="274320"/>
          </a:xfrm>
          <a:prstGeom prst="rect">
            <a:avLst/>
          </a:prstGeom>
          <a:noFill/>
        </p:spPr>
        <p:txBody>
          <a:bodyPr wrap="none">
            <a:spAutoFit/>
          </a:bodyPr>
          <a:lstStyle/>
          <a:p>
            <a:pPr algn="ctr"/>
            <a:r>
              <a:rPr sz="1200" b="1">
                <a:solidFill>
                  <a:srgbClr val="FFFFFF"/>
                </a:solidFill>
                <a:latin typeface="Aptos"/>
              </a:rPr>
              <a:t>MCP Expert</a:t>
            </a:r>
          </a:p>
        </p:txBody>
      </p:sp>
      <p:pic>
        <p:nvPicPr>
          <p:cNvPr id="18" name="Picture 17" descr="image.png"/>
          <p:cNvPicPr>
            <a:picLocks noChangeAspect="1"/>
          </p:cNvPicPr>
          <p:nvPr/>
        </p:nvPicPr>
        <p:blipFill>
          <a:blip r:embed="rId8"/>
          <a:stretch>
            <a:fillRect/>
          </a:stretch>
        </p:blipFill>
        <p:spPr>
          <a:xfrm>
            <a:off x="5464149" y="3072993"/>
            <a:ext cx="1233220" cy="1233220"/>
          </a:xfrm>
          <a:prstGeom prst="rect">
            <a:avLst/>
          </a:prstGeom>
        </p:spPr>
      </p:pic>
      <p:sp>
        <p:nvSpPr>
          <p:cNvPr id="19" name="TextBox 18"/>
          <p:cNvSpPr txBox="1"/>
          <p:nvPr/>
        </p:nvSpPr>
        <p:spPr>
          <a:xfrm>
            <a:off x="5076748" y="4379366"/>
            <a:ext cx="2008022" cy="274320"/>
          </a:xfrm>
          <a:prstGeom prst="rect">
            <a:avLst/>
          </a:prstGeom>
          <a:noFill/>
        </p:spPr>
        <p:txBody>
          <a:bodyPr wrap="none">
            <a:spAutoFit/>
          </a:bodyPr>
          <a:lstStyle/>
          <a:p>
            <a:pPr algn="ctr"/>
            <a:r>
              <a:rPr sz="1200" b="1">
                <a:solidFill>
                  <a:srgbClr val="FFFFFF"/>
                </a:solidFill>
                <a:latin typeface="Aptos"/>
              </a:rPr>
              <a:t>Platform Architect</a:t>
            </a:r>
          </a:p>
        </p:txBody>
      </p:sp>
      <p:pic>
        <p:nvPicPr>
          <p:cNvPr id="20" name="Picture 19" descr="image.png"/>
          <p:cNvPicPr>
            <a:picLocks noChangeAspect="1"/>
          </p:cNvPicPr>
          <p:nvPr/>
        </p:nvPicPr>
        <p:blipFill>
          <a:blip r:embed="rId15"/>
          <a:stretch>
            <a:fillRect/>
          </a:stretch>
        </p:blipFill>
        <p:spPr>
          <a:xfrm>
            <a:off x="7728204" y="3072993"/>
            <a:ext cx="1233220" cy="1233220"/>
          </a:xfrm>
          <a:prstGeom prst="rect">
            <a:avLst/>
          </a:prstGeom>
        </p:spPr>
      </p:pic>
      <p:sp>
        <p:nvSpPr>
          <p:cNvPr id="21" name="TextBox 20"/>
          <p:cNvSpPr txBox="1"/>
          <p:nvPr/>
        </p:nvSpPr>
        <p:spPr>
          <a:xfrm>
            <a:off x="7340803" y="4379366"/>
            <a:ext cx="2008022" cy="274320"/>
          </a:xfrm>
          <a:prstGeom prst="rect">
            <a:avLst/>
          </a:prstGeom>
          <a:noFill/>
        </p:spPr>
        <p:txBody>
          <a:bodyPr wrap="none">
            <a:spAutoFit/>
          </a:bodyPr>
          <a:lstStyle/>
          <a:p>
            <a:pPr algn="ctr"/>
            <a:r>
              <a:rPr sz="1200" b="1">
                <a:solidFill>
                  <a:srgbClr val="FFFFFF"/>
                </a:solidFill>
                <a:latin typeface="Aptos"/>
              </a:rPr>
              <a:t>Pull Request Reviewer</a:t>
            </a:r>
          </a:p>
        </p:txBody>
      </p:sp>
      <p:pic>
        <p:nvPicPr>
          <p:cNvPr id="22" name="Picture 21" descr="image.png"/>
          <p:cNvPicPr>
            <a:picLocks noChangeAspect="1"/>
          </p:cNvPicPr>
          <p:nvPr/>
        </p:nvPicPr>
        <p:blipFill>
          <a:blip r:embed="rId3"/>
          <a:stretch>
            <a:fillRect/>
          </a:stretch>
        </p:blipFill>
        <p:spPr>
          <a:xfrm>
            <a:off x="9992258" y="3072993"/>
            <a:ext cx="1233220" cy="1233220"/>
          </a:xfrm>
          <a:prstGeom prst="rect">
            <a:avLst/>
          </a:prstGeom>
        </p:spPr>
      </p:pic>
      <p:sp>
        <p:nvSpPr>
          <p:cNvPr id="23" name="TextBox 22"/>
          <p:cNvSpPr txBox="1"/>
          <p:nvPr/>
        </p:nvSpPr>
        <p:spPr>
          <a:xfrm>
            <a:off x="9604857" y="4379366"/>
            <a:ext cx="2008022" cy="274320"/>
          </a:xfrm>
          <a:prstGeom prst="rect">
            <a:avLst/>
          </a:prstGeom>
          <a:noFill/>
        </p:spPr>
        <p:txBody>
          <a:bodyPr wrap="none">
            <a:spAutoFit/>
          </a:bodyPr>
          <a:lstStyle/>
          <a:p>
            <a:pPr algn="ctr"/>
            <a:r>
              <a:rPr sz="1200" b="1">
                <a:solidFill>
                  <a:srgbClr val="FFFFFF"/>
                </a:solidFill>
                <a:latin typeface="Aptos"/>
              </a:rPr>
              <a:t>Quality Expert</a:t>
            </a:r>
          </a:p>
        </p:txBody>
      </p:sp>
      <p:pic>
        <p:nvPicPr>
          <p:cNvPr id="24" name="Picture 23" descr="ppt-polaroid-portrait-pdck1u2i.png"/>
          <p:cNvPicPr>
            <a:picLocks noChangeAspect="1"/>
          </p:cNvPicPr>
          <p:nvPr/>
        </p:nvPicPr>
        <p:blipFill>
          <a:blip r:embed="rId21"/>
          <a:stretch>
            <a:fillRect/>
          </a:stretch>
        </p:blipFill>
        <p:spPr>
          <a:xfrm>
            <a:off x="936040" y="4886553"/>
            <a:ext cx="1233220" cy="1233220"/>
          </a:xfrm>
          <a:prstGeom prst="rect">
            <a:avLst/>
          </a:prstGeom>
        </p:spPr>
      </p:pic>
      <p:sp>
        <p:nvSpPr>
          <p:cNvPr id="25" name="TextBox 24"/>
          <p:cNvSpPr txBox="1"/>
          <p:nvPr/>
        </p:nvSpPr>
        <p:spPr>
          <a:xfrm>
            <a:off x="548640" y="6192926"/>
            <a:ext cx="2008022" cy="274320"/>
          </a:xfrm>
          <a:prstGeom prst="rect">
            <a:avLst/>
          </a:prstGeom>
          <a:noFill/>
        </p:spPr>
        <p:txBody>
          <a:bodyPr wrap="none">
            <a:spAutoFit/>
          </a:bodyPr>
          <a:lstStyle/>
          <a:p>
            <a:pPr algn="ctr"/>
            <a:r>
              <a:rPr sz="1200" b="1">
                <a:solidFill>
                  <a:srgbClr val="FFFFFF"/>
                </a:solidFill>
                <a:latin typeface="Aptos"/>
              </a:rPr>
              <a:t>Quantum Expert</a:t>
            </a:r>
          </a:p>
        </p:txBody>
      </p:sp>
      <p:pic>
        <p:nvPicPr>
          <p:cNvPr id="26" name="Picture 25" descr="image.png"/>
          <p:cNvPicPr>
            <a:picLocks noChangeAspect="1"/>
          </p:cNvPicPr>
          <p:nvPr/>
        </p:nvPicPr>
        <p:blipFill>
          <a:blip r:embed="rId13"/>
          <a:stretch>
            <a:fillRect/>
          </a:stretch>
        </p:blipFill>
        <p:spPr>
          <a:xfrm>
            <a:off x="3200095" y="4886553"/>
            <a:ext cx="1233220" cy="1233220"/>
          </a:xfrm>
          <a:prstGeom prst="rect">
            <a:avLst/>
          </a:prstGeom>
        </p:spPr>
      </p:pic>
      <p:sp>
        <p:nvSpPr>
          <p:cNvPr id="27" name="TextBox 26"/>
          <p:cNvSpPr txBox="1"/>
          <p:nvPr/>
        </p:nvSpPr>
        <p:spPr>
          <a:xfrm>
            <a:off x="2812694" y="6192926"/>
            <a:ext cx="2008022" cy="274320"/>
          </a:xfrm>
          <a:prstGeom prst="rect">
            <a:avLst/>
          </a:prstGeom>
          <a:noFill/>
        </p:spPr>
        <p:txBody>
          <a:bodyPr wrap="none">
            <a:spAutoFit/>
          </a:bodyPr>
          <a:lstStyle/>
          <a:p>
            <a:pPr algn="ctr"/>
            <a:r>
              <a:rPr sz="1200" b="1">
                <a:solidFill>
                  <a:srgbClr val="FFFFFF"/>
                </a:solidFill>
                <a:latin typeface="Aptos"/>
              </a:rPr>
              <a:t>Security Expert</a:t>
            </a:r>
          </a:p>
        </p:txBody>
      </p:sp>
      <p:pic>
        <p:nvPicPr>
          <p:cNvPr id="28" name="Picture 27" descr="image.png"/>
          <p:cNvPicPr>
            <a:picLocks noChangeAspect="1"/>
          </p:cNvPicPr>
          <p:nvPr/>
        </p:nvPicPr>
        <p:blipFill>
          <a:blip r:embed="rId7"/>
          <a:stretch>
            <a:fillRect/>
          </a:stretch>
        </p:blipFill>
        <p:spPr>
          <a:xfrm>
            <a:off x="5464149" y="4886553"/>
            <a:ext cx="1233220" cy="1233220"/>
          </a:xfrm>
          <a:prstGeom prst="rect">
            <a:avLst/>
          </a:prstGeom>
        </p:spPr>
      </p:pic>
      <p:sp>
        <p:nvSpPr>
          <p:cNvPr id="29" name="TextBox 28"/>
          <p:cNvSpPr txBox="1"/>
          <p:nvPr/>
        </p:nvSpPr>
        <p:spPr>
          <a:xfrm>
            <a:off x="5076748" y="6192926"/>
            <a:ext cx="2008022" cy="274320"/>
          </a:xfrm>
          <a:prstGeom prst="rect">
            <a:avLst/>
          </a:prstGeom>
          <a:noFill/>
        </p:spPr>
        <p:txBody>
          <a:bodyPr wrap="none">
            <a:spAutoFit/>
          </a:bodyPr>
          <a:lstStyle/>
          <a:p>
            <a:pPr algn="ctr"/>
            <a:r>
              <a:rPr sz="1200" b="1">
                <a:solidFill>
                  <a:srgbClr val="FFFFFF"/>
                </a:solidFill>
                <a:latin typeface="Aptos"/>
              </a:rPr>
              <a:t>User Standard</a:t>
            </a:r>
          </a:p>
        </p:txBody>
      </p:sp>
      <p:pic>
        <p:nvPicPr>
          <p:cNvPr id="30" name="Picture 29" descr="image.png"/>
          <p:cNvPicPr>
            <a:picLocks noChangeAspect="1"/>
          </p:cNvPicPr>
          <p:nvPr/>
        </p:nvPicPr>
        <p:blipFill>
          <a:blip r:embed="rId9"/>
          <a:stretch>
            <a:fillRect/>
          </a:stretch>
        </p:blipFill>
        <p:spPr>
          <a:xfrm>
            <a:off x="7728204" y="4886553"/>
            <a:ext cx="1233220" cy="1233220"/>
          </a:xfrm>
          <a:prstGeom prst="rect">
            <a:avLst/>
          </a:prstGeom>
        </p:spPr>
      </p:pic>
      <p:sp>
        <p:nvSpPr>
          <p:cNvPr id="31" name="TextBox 30"/>
          <p:cNvSpPr txBox="1"/>
          <p:nvPr/>
        </p:nvSpPr>
        <p:spPr>
          <a:xfrm>
            <a:off x="7340803" y="6192926"/>
            <a:ext cx="2008022" cy="274320"/>
          </a:xfrm>
          <a:prstGeom prst="rect">
            <a:avLst/>
          </a:prstGeom>
          <a:noFill/>
        </p:spPr>
        <p:txBody>
          <a:bodyPr wrap="none">
            <a:spAutoFit/>
          </a:bodyPr>
          <a:lstStyle/>
          <a:p>
            <a:pPr algn="ctr"/>
            <a:r>
              <a:rPr sz="1200" b="1">
                <a:solidFill>
                  <a:srgbClr val="FFFFFF"/>
                </a:solidFill>
                <a:latin typeface="Aptos"/>
              </a:rPr>
              <a:t>UX Designer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4ivxuxpp.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1828800"/>
            <a:ext cx="10058400" cy="1828800"/>
          </a:xfrm>
          <a:prstGeom prst="rect">
            <a:avLst/>
          </a:prstGeom>
          <a:noFill/>
        </p:spPr>
        <p:txBody>
          <a:bodyPr wrap="none">
            <a:spAutoFit/>
          </a:bodyPr>
          <a:lstStyle/>
          <a:p>
            <a:r>
              <a:rPr sz="6400" b="1">
                <a:solidFill>
                  <a:srgbClr val="FFFFFF"/>
                </a:solidFill>
                <a:latin typeface="Aptos"/>
              </a:rPr>
              <a:t>Thank You</a:t>
            </a:r>
          </a:p>
        </p:txBody>
      </p:sp>
      <p:sp>
        <p:nvSpPr>
          <p:cNvPr id="4" name="TextBox 3"/>
          <p:cNvSpPr txBox="1"/>
          <p:nvPr/>
        </p:nvSpPr>
        <p:spPr>
          <a:xfrm>
            <a:off x="914400" y="3840480"/>
            <a:ext cx="10058400" cy="731520"/>
          </a:xfrm>
          <a:prstGeom prst="rect">
            <a:avLst/>
          </a:prstGeom>
          <a:noFill/>
        </p:spPr>
        <p:txBody>
          <a:bodyPr wrap="none">
            <a:spAutoFit/>
          </a:bodyPr>
          <a:lstStyle/>
          <a:p>
            <a:r>
              <a:rPr sz="2400" b="0">
                <a:solidFill>
                  <a:srgbClr val="16E0BD"/>
                </a:solidFill>
                <a:latin typeface="Aptos"/>
              </a:rPr>
              <a:t>Questions? Let's talk.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h59oak98.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515600" cy="731520"/>
          </a:xfrm>
          <a:prstGeom prst="rect">
            <a:avLst/>
          </a:prstGeom>
          <a:noFill/>
        </p:spPr>
        <p:txBody>
          <a:bodyPr wrap="none">
            <a:spAutoFit/>
          </a:bodyPr>
          <a:lstStyle/>
          <a:p>
            <a:r>
              <a:rPr sz="3000" b="1">
                <a:solidFill>
                  <a:srgbClr val="1F4E79"/>
                </a:solidFill>
                <a:latin typeface="Aptos"/>
              </a:rPr>
              <a:t>Schema</a:t>
            </a:r>
          </a:p>
        </p:txBody>
      </p:sp>
      <p:sp>
        <p:nvSpPr>
          <p:cNvPr id="4" name="Rectangle 3"/>
          <p:cNvSpPr/>
          <p:nvPr/>
        </p:nvSpPr>
        <p:spPr>
          <a:xfrm>
            <a:off x="1592427" y="1280160"/>
            <a:ext cx="1234440" cy="1234440"/>
          </a:xfrm>
          <a:prstGeom prst="rect">
            <a:avLst/>
          </a:prstGeom>
          <a:solidFill>
            <a:srgbClr val="071426"/>
          </a:solidFill>
          <a:ln>
            <a:solidFill>
              <a:srgbClr val="07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92427" y="2606040"/>
            <a:ext cx="1234440" cy="457200"/>
          </a:xfrm>
          <a:prstGeom prst="rect">
            <a:avLst/>
          </a:prstGeom>
          <a:noFill/>
        </p:spPr>
        <p:txBody>
          <a:bodyPr wrap="none">
            <a:spAutoFit/>
          </a:bodyPr>
          <a:lstStyle/>
          <a:p>
            <a:r>
              <a:rPr sz="1200" b="0">
                <a:solidFill>
                  <a:srgbClr val="1F4E79"/>
                </a:solidFill>
                <a:latin typeface="Aptos"/>
              </a:rPr>
              <a:t>Dark Navy</a:t>
            </a:r>
          </a:p>
        </p:txBody>
      </p:sp>
      <p:sp>
        <p:nvSpPr>
          <p:cNvPr id="6" name="Rectangle 5"/>
          <p:cNvSpPr/>
          <p:nvPr/>
        </p:nvSpPr>
        <p:spPr>
          <a:xfrm>
            <a:off x="3146907" y="1280160"/>
            <a:ext cx="1234440" cy="1234440"/>
          </a:xfrm>
          <a:prstGeom prst="rect">
            <a:avLst/>
          </a:prstGeom>
          <a:solidFill>
            <a:srgbClr val="0B2A4A"/>
          </a:solidFill>
          <a:ln>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46907" y="2606040"/>
            <a:ext cx="1234440" cy="457200"/>
          </a:xfrm>
          <a:prstGeom prst="rect">
            <a:avLst/>
          </a:prstGeom>
          <a:noFill/>
        </p:spPr>
        <p:txBody>
          <a:bodyPr wrap="none">
            <a:spAutoFit/>
          </a:bodyPr>
          <a:lstStyle/>
          <a:p>
            <a:r>
              <a:rPr sz="1200" b="0">
                <a:solidFill>
                  <a:srgbClr val="1F4E79"/>
                </a:solidFill>
                <a:latin typeface="Aptos"/>
              </a:rPr>
              <a:t>Deep Blue</a:t>
            </a:r>
          </a:p>
        </p:txBody>
      </p:sp>
      <p:sp>
        <p:nvSpPr>
          <p:cNvPr id="8" name="Rectangle 7"/>
          <p:cNvSpPr/>
          <p:nvPr/>
        </p:nvSpPr>
        <p:spPr>
          <a:xfrm>
            <a:off x="4701387" y="1280160"/>
            <a:ext cx="1234440" cy="1234440"/>
          </a:xfrm>
          <a:prstGeom prst="rect">
            <a:avLst/>
          </a:prstGeom>
          <a:solidFill>
            <a:srgbClr val="16E0BD"/>
          </a:solidFill>
          <a:ln>
            <a:solidFill>
              <a:srgbClr val="16E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1387" y="2606040"/>
            <a:ext cx="1234440" cy="457200"/>
          </a:xfrm>
          <a:prstGeom prst="rect">
            <a:avLst/>
          </a:prstGeom>
          <a:noFill/>
        </p:spPr>
        <p:txBody>
          <a:bodyPr wrap="none">
            <a:spAutoFit/>
          </a:bodyPr>
          <a:lstStyle/>
          <a:p>
            <a:r>
              <a:rPr sz="1200" b="0">
                <a:solidFill>
                  <a:srgbClr val="1F4E79"/>
                </a:solidFill>
                <a:latin typeface="Aptos"/>
              </a:rPr>
              <a:t>Teal</a:t>
            </a:r>
          </a:p>
        </p:txBody>
      </p:sp>
      <p:sp>
        <p:nvSpPr>
          <p:cNvPr id="10" name="Rectangle 9"/>
          <p:cNvSpPr/>
          <p:nvPr/>
        </p:nvSpPr>
        <p:spPr>
          <a:xfrm>
            <a:off x="6255867" y="1280160"/>
            <a:ext cx="1234440" cy="1234440"/>
          </a:xfrm>
          <a:prstGeom prst="rect">
            <a:avLst/>
          </a:prstGeom>
          <a:solidFill>
            <a:srgbClr val="59B3FF"/>
          </a:solidFill>
          <a:ln>
            <a:solidFill>
              <a:srgbClr val="59B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55867" y="2606040"/>
            <a:ext cx="1234440" cy="457200"/>
          </a:xfrm>
          <a:prstGeom prst="rect">
            <a:avLst/>
          </a:prstGeom>
          <a:noFill/>
        </p:spPr>
        <p:txBody>
          <a:bodyPr wrap="none">
            <a:spAutoFit/>
          </a:bodyPr>
          <a:lstStyle/>
          <a:p>
            <a:r>
              <a:rPr sz="1200" b="0">
                <a:solidFill>
                  <a:srgbClr val="1F4E79"/>
                </a:solidFill>
                <a:latin typeface="Aptos"/>
              </a:rPr>
              <a:t>Sky Blue</a:t>
            </a:r>
          </a:p>
        </p:txBody>
      </p:sp>
      <p:sp>
        <p:nvSpPr>
          <p:cNvPr id="12" name="Rectangle 11"/>
          <p:cNvSpPr/>
          <p:nvPr/>
        </p:nvSpPr>
        <p:spPr>
          <a:xfrm>
            <a:off x="7810347" y="1280160"/>
            <a:ext cx="1234440" cy="123444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0347" y="2606040"/>
            <a:ext cx="1234440" cy="457200"/>
          </a:xfrm>
          <a:prstGeom prst="rect">
            <a:avLst/>
          </a:prstGeom>
          <a:noFill/>
        </p:spPr>
        <p:txBody>
          <a:bodyPr wrap="none">
            <a:spAutoFit/>
          </a:bodyPr>
          <a:lstStyle/>
          <a:p>
            <a:r>
              <a:rPr sz="1200" b="0">
                <a:solidFill>
                  <a:srgbClr val="1F4E79"/>
                </a:solidFill>
                <a:latin typeface="Aptos"/>
              </a:rPr>
              <a:t>Navy</a:t>
            </a:r>
          </a:p>
        </p:txBody>
      </p:sp>
      <p:sp>
        <p:nvSpPr>
          <p:cNvPr id="14" name="Rectangle 13"/>
          <p:cNvSpPr/>
          <p:nvPr/>
        </p:nvSpPr>
        <p:spPr>
          <a:xfrm>
            <a:off x="9364827" y="1280160"/>
            <a:ext cx="1234440" cy="1234440"/>
          </a:xfrm>
          <a:prstGeom prst="rect">
            <a:avLst/>
          </a:prstGeom>
          <a:solidFill>
            <a:srgbClr val="2A9D8F"/>
          </a:solidFill>
          <a:ln>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64827" y="2606040"/>
            <a:ext cx="1234440" cy="457200"/>
          </a:xfrm>
          <a:prstGeom prst="rect">
            <a:avLst/>
          </a:prstGeom>
          <a:noFill/>
        </p:spPr>
        <p:txBody>
          <a:bodyPr wrap="none">
            <a:spAutoFit/>
          </a:bodyPr>
          <a:lstStyle/>
          <a:p>
            <a:r>
              <a:rPr sz="1200" b="0">
                <a:solidFill>
                  <a:srgbClr val="1F4E79"/>
                </a:solidFill>
                <a:latin typeface="Aptos"/>
              </a:rPr>
              <a:t>Green Teal</a:t>
            </a:r>
          </a:p>
        </p:txBody>
      </p:sp>
      <p:sp>
        <p:nvSpPr>
          <p:cNvPr id="16" name="TextBox 15"/>
          <p:cNvSpPr txBox="1"/>
          <p:nvPr/>
        </p:nvSpPr>
        <p:spPr>
          <a:xfrm>
            <a:off x="731520" y="3154680"/>
            <a:ext cx="10515600" cy="457200"/>
          </a:xfrm>
          <a:prstGeom prst="rect">
            <a:avLst/>
          </a:prstGeom>
          <a:noFill/>
        </p:spPr>
        <p:txBody>
          <a:bodyPr wrap="none">
            <a:spAutoFit/>
          </a:bodyPr>
          <a:lstStyle/>
          <a:p>
            <a:r>
              <a:rPr sz="2000" b="1">
                <a:solidFill>
                  <a:srgbClr val="1F4E79"/>
                </a:solidFill>
                <a:latin typeface="Aptos"/>
              </a:rPr>
              <a:t>Typography Specification (Live Samples)</a:t>
            </a:r>
          </a:p>
        </p:txBody>
      </p:sp>
      <p:sp>
        <p:nvSpPr>
          <p:cNvPr id="17" name="TextBox 16"/>
          <p:cNvSpPr txBox="1"/>
          <p:nvPr/>
        </p:nvSpPr>
        <p:spPr>
          <a:xfrm>
            <a:off x="868680" y="3611880"/>
            <a:ext cx="10241280" cy="640080"/>
          </a:xfrm>
          <a:prstGeom prst="rect">
            <a:avLst/>
          </a:prstGeom>
          <a:noFill/>
        </p:spPr>
        <p:txBody>
          <a:bodyPr wrap="none">
            <a:spAutoFit/>
          </a:bodyPr>
          <a:lstStyle/>
          <a:p>
            <a:r>
              <a:rPr sz="2800" b="1">
                <a:solidFill>
                  <a:srgbClr val="071426"/>
                </a:solidFill>
                <a:latin typeface="Aptos Display"/>
              </a:rPr>
              <a:t>Aptos Display Bold 34 pt  |  Enterprise Presentation Title</a:t>
            </a:r>
          </a:p>
        </p:txBody>
      </p:sp>
      <p:sp>
        <p:nvSpPr>
          <p:cNvPr id="18" name="TextBox 17"/>
          <p:cNvSpPr txBox="1"/>
          <p:nvPr/>
        </p:nvSpPr>
        <p:spPr>
          <a:xfrm>
            <a:off x="868680" y="4224528"/>
            <a:ext cx="10241280" cy="566928"/>
          </a:xfrm>
          <a:prstGeom prst="rect">
            <a:avLst/>
          </a:prstGeom>
          <a:noFill/>
        </p:spPr>
        <p:txBody>
          <a:bodyPr wrap="none">
            <a:spAutoFit/>
          </a:bodyPr>
          <a:lstStyle/>
          <a:p>
            <a:r>
              <a:rPr sz="2000" b="1">
                <a:solidFill>
                  <a:srgbClr val="1F4E79"/>
                </a:solidFill>
                <a:latin typeface="Aptos"/>
              </a:rPr>
              <a:t>Aptos SemiBold 22 pt  |  Agenda, chapter and key section headings</a:t>
            </a:r>
          </a:p>
        </p:txBody>
      </p:sp>
      <p:sp>
        <p:nvSpPr>
          <p:cNvPr id="19" name="TextBox 18"/>
          <p:cNvSpPr txBox="1"/>
          <p:nvPr/>
        </p:nvSpPr>
        <p:spPr>
          <a:xfrm>
            <a:off x="868680" y="4773168"/>
            <a:ext cx="10241280" cy="566928"/>
          </a:xfrm>
          <a:prstGeom prst="rect">
            <a:avLst/>
          </a:prstGeom>
          <a:noFill/>
        </p:spPr>
        <p:txBody>
          <a:bodyPr wrap="none">
            <a:spAutoFit/>
          </a:bodyPr>
          <a:lstStyle/>
          <a:p>
            <a:r>
              <a:rPr sz="1600" b="0">
                <a:solidFill>
                  <a:srgbClr val="071426"/>
                </a:solidFill>
                <a:latin typeface="Aptos"/>
              </a:rPr>
              <a:t>Aptos Regular 16 pt  |  Body text and explanatory content</a:t>
            </a:r>
          </a:p>
        </p:txBody>
      </p:sp>
      <p:sp>
        <p:nvSpPr>
          <p:cNvPr id="20" name="TextBox 19"/>
          <p:cNvSpPr txBox="1"/>
          <p:nvPr/>
        </p:nvSpPr>
        <p:spPr>
          <a:xfrm>
            <a:off x="868680" y="5303520"/>
            <a:ext cx="10241280" cy="512064"/>
          </a:xfrm>
          <a:prstGeom prst="rect">
            <a:avLst/>
          </a:prstGeom>
          <a:noFill/>
        </p:spPr>
        <p:txBody>
          <a:bodyPr wrap="none">
            <a:spAutoFit/>
          </a:bodyPr>
          <a:lstStyle/>
          <a:p>
            <a:r>
              <a:rPr sz="1300" b="0">
                <a:solidFill>
                  <a:srgbClr val="1F4E79"/>
                </a:solidFill>
                <a:latin typeface="Calibri"/>
              </a:rPr>
              <a:t>Fallback for compatibility: Calibri (Office default fallback)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2i0ag31u.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645920"/>
            <a:ext cx="10515600" cy="1463040"/>
          </a:xfrm>
          <a:prstGeom prst="rect">
            <a:avLst/>
          </a:prstGeom>
          <a:noFill/>
        </p:spPr>
        <p:txBody>
          <a:bodyPr wrap="none">
            <a:spAutoFit/>
          </a:bodyPr>
          <a:lstStyle/>
          <a:p>
            <a:r>
              <a:rPr sz="2600" b="1">
                <a:solidFill>
                  <a:srgbClr val="FFFFFF"/>
                </a:solidFill>
              </a:rPr>
              <a:t>The Traveling Salesman Problem (TSP) is an optimization issue that involves finding the shortest route that visits each city once and returns to the starting point. This project will compare classical and quantum-inspired methods for tackling TSP based on feas.</a:t>
            </a:r>
          </a:p>
        </p:txBody>
      </p:sp>
      <p:sp>
        <p:nvSpPr>
          <p:cNvPr id="4" name="TextBox 3"/>
          <p:cNvSpPr txBox="1"/>
          <p:nvPr/>
        </p:nvSpPr>
        <p:spPr>
          <a:xfrm>
            <a:off x="731520" y="3291840"/>
            <a:ext cx="10241280" cy="731520"/>
          </a:xfrm>
          <a:prstGeom prst="rect">
            <a:avLst/>
          </a:prstGeom>
          <a:noFill/>
        </p:spPr>
        <p:txBody>
          <a:bodyPr wrap="none">
            <a:spAutoFit/>
          </a:bodyPr>
          <a:lstStyle/>
          <a:p>
            <a:pPr algn="l">
              <a:spcAft>
                <a:spcPts val="600"/>
              </a:spcAft>
            </a:pPr>
            <a:r>
              <a:rPr sz="1600" b="0">
                <a:solidFill>
                  <a:srgbClr val="E5E7EB"/>
                </a:solidFill>
              </a:rPr>
              <a:t>Decision-ready project briefing</a:t>
            </a:r>
          </a:p>
          <a:p>
            <a:pPr algn="l">
              <a:spcAft>
                <a:spcPts val="600"/>
              </a:spcAft>
            </a:pPr>
            <a:r>
              <a:rPr sz="1600" b="0">
                <a:solidFill>
                  <a:srgbClr val="E5E7EB"/>
                </a:solidFill>
              </a:rPr>
              <a:t>Focus: compare classical and quantum-inspired TSP approaches with transparent trade-offs.</a:t>
            </a:r>
          </a:p>
          <a:p>
            <a:pPr algn="l">
              <a:spcAft>
                <a:spcPts val="600"/>
              </a:spcAft>
            </a:pPr>
            <a:r>
              <a:rPr sz="1600" b="0">
                <a:solidFill>
                  <a:srgbClr val="E5E7EB"/>
                </a:solidFill>
              </a:rPr>
              <a:t>Outcome: align implementation scope, evidence, and next decisions for delivery.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sbm_zo9q.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731520"/>
            <a:ext cx="10515600" cy="822960"/>
          </a:xfrm>
          <a:prstGeom prst="rect">
            <a:avLst/>
          </a:prstGeom>
          <a:noFill/>
        </p:spPr>
        <p:txBody>
          <a:bodyPr wrap="none">
            <a:spAutoFit/>
          </a:bodyPr>
          <a:lstStyle/>
          <a:p>
            <a:r>
              <a:rPr sz="2600" b="1">
                <a:solidFill>
                  <a:srgbClr val="FFFFFF"/>
                </a:solidFill>
              </a:rPr>
              <a:t>Agenda and Scope Decisions</a:t>
            </a:r>
          </a:p>
        </p:txBody>
      </p:sp>
      <p:sp>
        <p:nvSpPr>
          <p:cNvPr id="4" name="TextBox 3"/>
          <p:cNvSpPr txBox="1"/>
          <p:nvPr/>
        </p:nvSpPr>
        <p:spPr>
          <a:xfrm>
            <a:off x="914400" y="1920240"/>
            <a:ext cx="457200" cy="640080"/>
          </a:xfrm>
          <a:prstGeom prst="rect">
            <a:avLst/>
          </a:prstGeom>
          <a:noFill/>
        </p:spPr>
        <p:txBody>
          <a:bodyPr wrap="none">
            <a:spAutoFit/>
          </a:bodyPr>
          <a:lstStyle/>
          <a:p/>
        </p:txBody>
      </p:sp>
      <p:sp>
        <p:nvSpPr>
          <p:cNvPr id="5" name="TextBox 4"/>
          <p:cNvSpPr txBox="1"/>
          <p:nvPr/>
        </p:nvSpPr>
        <p:spPr>
          <a:xfrm>
            <a:off x="1371600" y="1965960"/>
            <a:ext cx="9784080" cy="640080"/>
          </a:xfrm>
          <a:prstGeom prst="rect">
            <a:avLst/>
          </a:prstGeom>
          <a:noFill/>
        </p:spPr>
        <p:txBody>
          <a:bodyPr wrap="none">
            <a:spAutoFit/>
          </a:bodyPr>
          <a:lstStyle/>
          <a:p>
            <a:pPr algn="l">
              <a:spcAft>
                <a:spcPts val="600"/>
              </a:spcAft>
            </a:pPr>
            <a:r>
              <a:rPr sz="1600" b="0">
                <a:solidFill>
                  <a:srgbClr val="E5E7EB"/>
                </a:solidFill>
              </a:rPr>
              <a:t>1. Executive Summary</a:t>
            </a:r>
          </a:p>
          <a:p>
            <a:pPr algn="l">
              <a:spcAft>
                <a:spcPts val="600"/>
              </a:spcAft>
            </a:pPr>
            <a:r>
              <a:rPr sz="1600" b="0">
                <a:solidFill>
                  <a:srgbClr val="E5E7EB"/>
                </a:solidFill>
              </a:rPr>
              <a:t>2. Current Context</a:t>
            </a:r>
          </a:p>
          <a:p>
            <a:pPr algn="l">
              <a:spcAft>
                <a:spcPts val="600"/>
              </a:spcAft>
            </a:pPr>
            <a:r>
              <a:rPr sz="1600" b="0">
                <a:solidFill>
                  <a:srgbClr val="E5E7EB"/>
                </a:solidFill>
              </a:rPr>
              <a:t>3. Scope and Delivery Focus</a:t>
            </a:r>
          </a:p>
        </p:txBody>
      </p:sp>
      <p:sp>
        <p:nvSpPr>
          <p:cNvPr id="6" name="TextBox 5"/>
          <p:cNvSpPr txBox="1"/>
          <p:nvPr/>
        </p:nvSpPr>
        <p:spPr>
          <a:xfrm>
            <a:off x="914400" y="3017520"/>
            <a:ext cx="457200" cy="640080"/>
          </a:xfrm>
          <a:prstGeom prst="rect">
            <a:avLst/>
          </a:prstGeom>
          <a:noFill/>
        </p:spPr>
        <p:txBody>
          <a:bodyPr wrap="none">
            <a:spAutoFit/>
          </a:bodyPr>
          <a:lstStyle/>
          <a:p/>
        </p:txBody>
      </p:sp>
      <p:sp>
        <p:nvSpPr>
          <p:cNvPr id="7" name="TextBox 6"/>
          <p:cNvSpPr txBox="1"/>
          <p:nvPr/>
        </p:nvSpPr>
        <p:spPr>
          <a:xfrm>
            <a:off x="1371600" y="3063239"/>
            <a:ext cx="9784080" cy="640080"/>
          </a:xfrm>
          <a:prstGeom prst="rect">
            <a:avLst/>
          </a:prstGeom>
          <a:noFill/>
        </p:spPr>
        <p:txBody>
          <a:bodyPr wrap="none">
            <a:spAutoFit/>
          </a:bodyPr>
          <a:lstStyle/>
          <a:p/>
        </p:txBody>
      </p:sp>
      <p:sp>
        <p:nvSpPr>
          <p:cNvPr id="8" name="TextBox 7"/>
          <p:cNvSpPr txBox="1"/>
          <p:nvPr/>
        </p:nvSpPr>
        <p:spPr>
          <a:xfrm>
            <a:off x="914400" y="4114800"/>
            <a:ext cx="457200" cy="640080"/>
          </a:xfrm>
          <a:prstGeom prst="rect">
            <a:avLst/>
          </a:prstGeom>
          <a:noFill/>
        </p:spPr>
        <p:txBody>
          <a:bodyPr wrap="none">
            <a:spAutoFit/>
          </a:bodyPr>
          <a:lstStyle/>
          <a:p/>
        </p:txBody>
      </p:sp>
      <p:sp>
        <p:nvSpPr>
          <p:cNvPr id="9" name="TextBox 8"/>
          <p:cNvSpPr txBox="1"/>
          <p:nvPr/>
        </p:nvSpPr>
        <p:spPr>
          <a:xfrm>
            <a:off x="1371600" y="4160520"/>
            <a:ext cx="9784080" cy="640080"/>
          </a:xfrm>
          <a:prstGeom prst="rect">
            <a:avLst/>
          </a:prstGeom>
          <a:noFill/>
        </p:spPr>
        <p:txBody>
          <a:bodyPr wrap="none">
            <a:spAutoFit/>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kch9qc0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463040"/>
            <a:ext cx="10515600" cy="1828800"/>
          </a:xfrm>
          <a:prstGeom prst="rect">
            <a:avLst/>
          </a:prstGeom>
          <a:noFill/>
        </p:spPr>
        <p:txBody>
          <a:bodyPr wrap="none">
            <a:spAutoFit/>
          </a:bodyPr>
          <a:lstStyle/>
          <a:p>
            <a:r>
              <a:rPr sz="2600" b="1">
                <a:solidFill>
                  <a:srgbClr val="FFFFFF"/>
                </a:solidFill>
              </a:rPr>
              <a:t>Executive Summary</a:t>
            </a:r>
          </a:p>
        </p:txBody>
      </p:sp>
      <p:sp>
        <p:nvSpPr>
          <p:cNvPr id="4" name="TextBox 3"/>
          <p:cNvSpPr txBox="1"/>
          <p:nvPr/>
        </p:nvSpPr>
        <p:spPr>
          <a:xfrm>
            <a:off x="731520" y="3474720"/>
            <a:ext cx="10515600" cy="1097280"/>
          </a:xfrm>
          <a:prstGeom prst="rect">
            <a:avLst/>
          </a:prstGeom>
          <a:noFill/>
        </p:spPr>
        <p:txBody>
          <a:bodyPr wrap="none">
            <a:spAutoFit/>
          </a:bodyPr>
          <a:lstStyle/>
          <a:p>
            <a:pPr algn="l">
              <a:spcAft>
                <a:spcPts val="600"/>
              </a:spcAft>
            </a:pPr>
            <a:r>
              <a:rPr sz="1600" b="0">
                <a:solidFill>
                  <a:srgbClr val="E5E7EB"/>
                </a:solidFill>
              </a:rPr>
              <a:t>The Project stage aligns validated context into a coherent, delivery-ready project report.</a:t>
            </a:r>
          </a:p>
          <a:p>
            <a:pPr algn="l">
              <a:spcAft>
                <a:spcPts val="600"/>
              </a:spcAft>
            </a:pPr>
            <a:r>
              <a:rPr sz="1600" b="0">
                <a:solidFill>
                  <a:srgbClr val="E5E7EB"/>
                </a:solidFill>
              </a:rPr>
              <a:t>This cycle aims to ensure that at least one thematic epic can be derived from aggregated context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ff_4nel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457200"/>
            <a:ext cx="10515600" cy="822960"/>
          </a:xfrm>
          <a:prstGeom prst="rect">
            <a:avLst/>
          </a:prstGeom>
          <a:noFill/>
        </p:spPr>
        <p:txBody>
          <a:bodyPr wrap="none">
            <a:spAutoFit/>
          </a:bodyPr>
          <a:lstStyle/>
          <a:p>
            <a:pPr algn="l">
              <a:spcAft>
                <a:spcPts val="600"/>
              </a:spcAft>
            </a:pPr>
            <a:r>
              <a:rPr sz="1600" b="0">
                <a:solidFill>
                  <a:srgbClr val="071426"/>
                </a:solidFill>
              </a:rPr>
              <a:t>The Traveling Salesman Problem (TSP) is an optimization issue that involves finding the shortest</a:t>
            </a:r>
          </a:p>
          <a:p>
            <a:pPr algn="l">
              <a:spcAft>
                <a:spcPts val="600"/>
              </a:spcAft>
            </a:pPr>
            <a:r>
              <a:rPr sz="1600" b="0">
                <a:solidFill>
                  <a:srgbClr val="071426"/>
                </a:solidFill>
              </a:rPr>
              <a:t>Quantum vs Classical Approaches to the Traveling Salesman Problem (TSP).</a:t>
            </a:r>
          </a:p>
        </p:txBody>
      </p:sp>
      <p:sp>
        <p:nvSpPr>
          <p:cNvPr id="4" name="TextBox 3"/>
          <p:cNvSpPr txBox="1"/>
          <p:nvPr/>
        </p:nvSpPr>
        <p:spPr>
          <a:xfrm>
            <a:off x="731520" y="1463040"/>
            <a:ext cx="10607040" cy="4846320"/>
          </a:xfrm>
          <a:prstGeom prst="rect">
            <a:avLst/>
          </a:prstGeom>
          <a:noFill/>
        </p:spPr>
        <p:txBody>
          <a:bodyPr wrap="none">
            <a:spAutoFit/>
          </a:bodyPr>
          <a:lstStyle/>
          <a:p>
            <a:r>
              <a:rPr sz="2600" b="1">
                <a:solidFill>
                  <a:srgbClr val="1F4E79"/>
                </a:solidFill>
              </a:rPr>
              <a:t>Current Context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ff_4nel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457200"/>
            <a:ext cx="10515600" cy="822960"/>
          </a:xfrm>
          <a:prstGeom prst="rect">
            <a:avLst/>
          </a:prstGeom>
          <a:noFill/>
        </p:spPr>
        <p:txBody>
          <a:bodyPr wrap="none">
            <a:spAutoFit/>
          </a:bodyPr>
          <a:lstStyle/>
          <a:p>
            <a:pPr algn="l">
              <a:spcAft>
                <a:spcPts val="600"/>
              </a:spcAft>
            </a:pPr>
            <a:r>
              <a:rPr sz="1600" b="0">
                <a:solidFill>
                  <a:srgbClr val="071426"/>
                </a:solidFill>
              </a:rPr>
              <a:t>Goals:</a:t>
            </a:r>
          </a:p>
          <a:p>
            <a:pPr algn="l">
              <a:spcAft>
                <a:spcPts val="600"/>
              </a:spcAft>
            </a:pPr>
            <a:r>
              <a:rPr sz="1600" b="0">
                <a:solidFill>
                  <a:srgbClr val="071426"/>
                </a:solidFill>
              </a:rPr>
              <a:t>Scope boundaries:</a:t>
            </a:r>
          </a:p>
          <a:p>
            <a:pPr algn="l">
              <a:spcAft>
                <a:spcPts val="600"/>
              </a:spcAft>
            </a:pPr>
            <a:r>
              <a:rPr sz="1600" b="0">
                <a:solidFill>
                  <a:srgbClr val="071426"/>
                </a:solidFill>
              </a:rPr>
              <a:t>In Scope</a:t>
            </a:r>
          </a:p>
          <a:p>
            <a:pPr algn="l">
              <a:spcAft>
                <a:spcPts val="600"/>
              </a:spcAft>
            </a:pPr>
            <a:r>
              <a:rPr sz="1600" b="0">
                <a:solidFill>
                  <a:srgbClr val="071426"/>
                </a:solidFill>
              </a:rPr>
              <a:t>The Traveling Salesman Problem (TSP) is an optimization issue that involves finding the shortest</a:t>
            </a:r>
          </a:p>
          <a:p>
            <a:pPr algn="l">
              <a:spcAft>
                <a:spcPts val="600"/>
              </a:spcAft>
            </a:pPr>
            <a:r>
              <a:rPr sz="1600" b="0">
                <a:solidFill>
                  <a:srgbClr val="071426"/>
                </a:solidFill>
              </a:rPr>
              <a:t>Quantum vs Classical Approaches to the Traveling Salesman Problem (TSP)</a:t>
            </a:r>
          </a:p>
          <a:p>
            <a:pPr algn="l">
              <a:spcAft>
                <a:spcPts val="600"/>
              </a:spcAft>
            </a:pPr>
            <a:r>
              <a:rPr sz="1600" b="0">
                <a:solidFill>
                  <a:srgbClr val="071426"/>
                </a:solidFill>
              </a:rPr>
              <a:t>Given a set of cities and distances between them, find the shortest possible route that visits e</a:t>
            </a:r>
          </a:p>
          <a:p>
            <a:pPr algn="l">
              <a:spcAft>
                <a:spcPts val="600"/>
              </a:spcAft>
            </a:pPr>
            <a:r>
              <a:rPr sz="1600" b="0">
                <a:solidFill>
                  <a:srgbClr val="071426"/>
                </a:solidFill>
              </a:rPr>
              <a:t>Out of Scope</a:t>
            </a:r>
          </a:p>
          <a:p>
            <a:pPr algn="l">
              <a:spcAft>
                <a:spcPts val="600"/>
              </a:spcAft>
            </a:pPr>
            <a:r>
              <a:rPr sz="1600" b="0">
                <a:solidFill>
                  <a:srgbClr val="071426"/>
                </a:solidFill>
              </a:rPr>
              <a:t>Exclude assumptions without supporting evidence.</a:t>
            </a:r>
          </a:p>
        </p:txBody>
      </p:sp>
      <p:sp>
        <p:nvSpPr>
          <p:cNvPr id="4" name="TextBox 3"/>
          <p:cNvSpPr txBox="1"/>
          <p:nvPr/>
        </p:nvSpPr>
        <p:spPr>
          <a:xfrm>
            <a:off x="731520" y="1463040"/>
            <a:ext cx="10607040" cy="4846320"/>
          </a:xfrm>
          <a:prstGeom prst="rect">
            <a:avLst/>
          </a:prstGeom>
          <a:noFill/>
        </p:spPr>
        <p:txBody>
          <a:bodyPr wrap="none">
            <a:spAutoFit/>
          </a:bodyPr>
          <a:lstStyle/>
          <a:p>
            <a:r>
              <a:rPr sz="2600" b="1">
                <a:solidFill>
                  <a:srgbClr val="1F4E79"/>
                </a:solidFill>
              </a:rPr>
              <a:t>Scope and Delivery Focus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ff_4nel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457200"/>
            <a:ext cx="10515600" cy="822960"/>
          </a:xfrm>
          <a:prstGeom prst="rect">
            <a:avLst/>
          </a:prstGeom>
          <a:noFill/>
        </p:spPr>
        <p:txBody>
          <a:bodyPr wrap="none">
            <a:spAutoFit/>
          </a:bodyPr>
          <a:lstStyle/>
          <a:p>
            <a:pPr algn="l">
              <a:spcAft>
                <a:spcPts val="600"/>
              </a:spcAft>
            </a:pPr>
            <a:r>
              <a:rPr sz="1600" b="0">
                <a:solidFill>
                  <a:srgbClr val="071426"/>
                </a:solidFill>
              </a:rPr>
              <a:t>Constraints:</a:t>
            </a:r>
          </a:p>
          <a:p>
            <a:pPr algn="l">
              <a:spcAft>
                <a:spcPts val="600"/>
              </a:spcAft>
            </a:pPr>
            <a:r>
              <a:rPr sz="1600" b="0">
                <a:solidFill>
                  <a:srgbClr val="071426"/>
                </a:solidFill>
              </a:rPr>
              <a:t>Readiness summary:</a:t>
            </a:r>
          </a:p>
          <a:p>
            <a:pPr algn="l">
              <a:spcAft>
                <a:spcPts val="600"/>
              </a:spcAft>
            </a:pPr>
            <a:r>
              <a:rPr sz="1600" b="0">
                <a:solidFill>
                  <a:srgbClr val="071426"/>
                </a:solidFill>
              </a:rPr>
              <a:t>Open questions:</a:t>
            </a:r>
          </a:p>
          <a:p>
            <a:pPr algn="l">
              <a:spcAft>
                <a:spcPts val="600"/>
              </a:spcAft>
            </a:pPr>
            <a:r>
              <a:rPr sz="1600" b="0">
                <a:solidFill>
                  <a:srgbClr val="071426"/>
                </a:solidFill>
              </a:rPr>
              <a:t>none</a:t>
            </a:r>
          </a:p>
        </p:txBody>
      </p:sp>
      <p:sp>
        <p:nvSpPr>
          <p:cNvPr id="4" name="TextBox 3"/>
          <p:cNvSpPr txBox="1"/>
          <p:nvPr/>
        </p:nvSpPr>
        <p:spPr>
          <a:xfrm>
            <a:off x="731520" y="1463040"/>
            <a:ext cx="10607040" cy="4846320"/>
          </a:xfrm>
          <a:prstGeom prst="rect">
            <a:avLst/>
          </a:prstGeom>
          <a:noFill/>
        </p:spPr>
        <p:txBody>
          <a:bodyPr wrap="none">
            <a:spAutoFit/>
          </a:bodyPr>
          <a:lstStyle/>
          <a:p>
            <a:r>
              <a:rPr sz="2600" b="1">
                <a:solidFill>
                  <a:srgbClr val="1F4E79"/>
                </a:solidFill>
              </a:rPr>
              <a:t>Constraints, Risks, and Next Step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o4rmmhow.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20040"/>
            <a:ext cx="10515600" cy="731520"/>
          </a:xfrm>
          <a:prstGeom prst="rect">
            <a:avLst/>
          </a:prstGeom>
          <a:noFill/>
        </p:spPr>
        <p:txBody>
          <a:bodyPr wrap="none">
            <a:spAutoFit/>
          </a:bodyPr>
          <a:lstStyle/>
          <a:p>
            <a:r>
              <a:rPr sz="3200" b="1">
                <a:solidFill>
                  <a:srgbClr val="FFFFFF"/>
                </a:solidFill>
                <a:latin typeface="Aptos"/>
              </a:rPr>
              <a:t>Our Team</a:t>
            </a:r>
          </a:p>
        </p:txBody>
      </p:sp>
      <p:pic>
        <p:nvPicPr>
          <p:cNvPr id="4" name="Picture 3" descr="ppt-polaroid-portrait-4rfuhvuu.png"/>
          <p:cNvPicPr>
            <a:picLocks noChangeAspect="1"/>
          </p:cNvPicPr>
          <p:nvPr/>
        </p:nvPicPr>
        <p:blipFill>
          <a:blip r:embed="rId18"/>
          <a:stretch>
            <a:fillRect/>
          </a:stretch>
        </p:blipFill>
        <p:spPr>
          <a:xfrm>
            <a:off x="936040" y="1259433"/>
            <a:ext cx="1233220" cy="1233220"/>
          </a:xfrm>
          <a:prstGeom prst="rect">
            <a:avLst/>
          </a:prstGeom>
        </p:spPr>
      </p:pic>
      <p:sp>
        <p:nvSpPr>
          <p:cNvPr id="5" name="TextBox 4"/>
          <p:cNvSpPr txBox="1"/>
          <p:nvPr/>
        </p:nvSpPr>
        <p:spPr>
          <a:xfrm>
            <a:off x="548640" y="2565806"/>
            <a:ext cx="2008022" cy="274320"/>
          </a:xfrm>
          <a:prstGeom prst="rect">
            <a:avLst/>
          </a:prstGeom>
          <a:noFill/>
        </p:spPr>
        <p:txBody>
          <a:bodyPr wrap="none">
            <a:spAutoFit/>
          </a:bodyPr>
          <a:lstStyle/>
          <a:p>
            <a:pPr algn="ctr"/>
            <a:r>
              <a:rPr sz="1200" b="1">
                <a:solidFill>
                  <a:srgbClr val="FFFFFF"/>
                </a:solidFill>
                <a:latin typeface="Aptos"/>
              </a:rPr>
              <a:t>Agile Coach</a:t>
            </a:r>
          </a:p>
        </p:txBody>
      </p:sp>
      <p:pic>
        <p:nvPicPr>
          <p:cNvPr id="6" name="Picture 5" descr="image.png"/>
          <p:cNvPicPr>
            <a:picLocks noChangeAspect="1"/>
          </p:cNvPicPr>
          <p:nvPr/>
        </p:nvPicPr>
        <p:blipFill>
          <a:blip r:embed="rId5"/>
          <a:stretch>
            <a:fillRect/>
          </a:stretch>
        </p:blipFill>
        <p:spPr>
          <a:xfrm>
            <a:off x="3200095" y="1259433"/>
            <a:ext cx="1233220" cy="1233220"/>
          </a:xfrm>
          <a:prstGeom prst="rect">
            <a:avLst/>
          </a:prstGeom>
        </p:spPr>
      </p:pic>
      <p:sp>
        <p:nvSpPr>
          <p:cNvPr id="7" name="TextBox 6"/>
          <p:cNvSpPr txBox="1"/>
          <p:nvPr/>
        </p:nvSpPr>
        <p:spPr>
          <a:xfrm>
            <a:off x="2812694" y="2565806"/>
            <a:ext cx="2008022" cy="274320"/>
          </a:xfrm>
          <a:prstGeom prst="rect">
            <a:avLst/>
          </a:prstGeom>
          <a:noFill/>
        </p:spPr>
        <p:txBody>
          <a:bodyPr wrap="none">
            <a:spAutoFit/>
          </a:bodyPr>
          <a:lstStyle/>
          <a:p>
            <a:pPr algn="ctr"/>
            <a:r>
              <a:rPr sz="1200" b="1">
                <a:solidFill>
                  <a:srgbClr val="FFFFFF"/>
                </a:solidFill>
                <a:latin typeface="Aptos"/>
              </a:rPr>
              <a:t>AI Expert</a:t>
            </a:r>
          </a:p>
        </p:txBody>
      </p:sp>
      <p:pic>
        <p:nvPicPr>
          <p:cNvPr id="8" name="Picture 7" descr="ppt-polaroid-portrait-e3mdnr2r.png"/>
          <p:cNvPicPr>
            <a:picLocks noChangeAspect="1"/>
          </p:cNvPicPr>
          <p:nvPr/>
        </p:nvPicPr>
        <p:blipFill>
          <a:blip r:embed="rId19"/>
          <a:stretch>
            <a:fillRect/>
          </a:stretch>
        </p:blipFill>
        <p:spPr>
          <a:xfrm>
            <a:off x="5464149" y="1259433"/>
            <a:ext cx="1233220" cy="1233220"/>
          </a:xfrm>
          <a:prstGeom prst="rect">
            <a:avLst/>
          </a:prstGeom>
        </p:spPr>
      </p:pic>
      <p:sp>
        <p:nvSpPr>
          <p:cNvPr id="9" name="TextBox 8"/>
          <p:cNvSpPr txBox="1"/>
          <p:nvPr/>
        </p:nvSpPr>
        <p:spPr>
          <a:xfrm>
            <a:off x="5076748" y="2565806"/>
            <a:ext cx="2008022" cy="274320"/>
          </a:xfrm>
          <a:prstGeom prst="rect">
            <a:avLst/>
          </a:prstGeom>
          <a:noFill/>
        </p:spPr>
        <p:txBody>
          <a:bodyPr wrap="none">
            <a:spAutoFit/>
          </a:bodyPr>
          <a:lstStyle/>
          <a:p>
            <a:pPr algn="ctr"/>
            <a:r>
              <a:rPr sz="1200" b="1">
                <a:solidFill>
                  <a:srgbClr val="FFFFFF"/>
                </a:solidFill>
                <a:latin typeface="Aptos"/>
              </a:rPr>
              <a:t>Container Expert</a:t>
            </a:r>
          </a:p>
        </p:txBody>
      </p:sp>
      <p:pic>
        <p:nvPicPr>
          <p:cNvPr id="10" name="Picture 9" descr="ppt-polaroid-portrait-rdmiuw8j.png"/>
          <p:cNvPicPr>
            <a:picLocks noChangeAspect="1"/>
          </p:cNvPicPr>
          <p:nvPr/>
        </p:nvPicPr>
        <p:blipFill>
          <a:blip r:embed="rId20"/>
          <a:stretch>
            <a:fillRect/>
          </a:stretch>
        </p:blipFill>
        <p:spPr>
          <a:xfrm>
            <a:off x="7728204" y="1259433"/>
            <a:ext cx="1233220" cy="1233220"/>
          </a:xfrm>
          <a:prstGeom prst="rect">
            <a:avLst/>
          </a:prstGeom>
        </p:spPr>
      </p:pic>
      <p:sp>
        <p:nvSpPr>
          <p:cNvPr id="11" name="TextBox 10"/>
          <p:cNvSpPr txBox="1"/>
          <p:nvPr/>
        </p:nvSpPr>
        <p:spPr>
          <a:xfrm>
            <a:off x="7340803" y="2565806"/>
            <a:ext cx="2008022" cy="274320"/>
          </a:xfrm>
          <a:prstGeom prst="rect">
            <a:avLst/>
          </a:prstGeom>
          <a:noFill/>
        </p:spPr>
        <p:txBody>
          <a:bodyPr wrap="none">
            <a:spAutoFit/>
          </a:bodyPr>
          <a:lstStyle/>
          <a:p>
            <a:pPr algn="ctr"/>
            <a:r>
              <a:rPr sz="1200" b="1">
                <a:solidFill>
                  <a:srgbClr val="FFFFFF"/>
                </a:solidFill>
                <a:latin typeface="Aptos"/>
              </a:rPr>
              <a:t>Data Scientist</a:t>
            </a:r>
          </a:p>
        </p:txBody>
      </p:sp>
      <p:pic>
        <p:nvPicPr>
          <p:cNvPr id="12" name="Picture 11" descr="image.png"/>
          <p:cNvPicPr>
            <a:picLocks noChangeAspect="1"/>
          </p:cNvPicPr>
          <p:nvPr/>
        </p:nvPicPr>
        <p:blipFill>
          <a:blip r:embed="rId12"/>
          <a:stretch>
            <a:fillRect/>
          </a:stretch>
        </p:blipFill>
        <p:spPr>
          <a:xfrm>
            <a:off x="9992258" y="1259433"/>
            <a:ext cx="1233220" cy="1233220"/>
          </a:xfrm>
          <a:prstGeom prst="rect">
            <a:avLst/>
          </a:prstGeom>
        </p:spPr>
      </p:pic>
      <p:sp>
        <p:nvSpPr>
          <p:cNvPr id="13" name="TextBox 12"/>
          <p:cNvSpPr txBox="1"/>
          <p:nvPr/>
        </p:nvSpPr>
        <p:spPr>
          <a:xfrm>
            <a:off x="9604857" y="2565806"/>
            <a:ext cx="2008022" cy="274320"/>
          </a:xfrm>
          <a:prstGeom prst="rect">
            <a:avLst/>
          </a:prstGeom>
          <a:noFill/>
        </p:spPr>
        <p:txBody>
          <a:bodyPr wrap="none">
            <a:spAutoFit/>
          </a:bodyPr>
          <a:lstStyle/>
          <a:p>
            <a:pPr algn="ctr"/>
            <a:r>
              <a:rPr sz="1200" b="1">
                <a:solidFill>
                  <a:srgbClr val="FFFFFF"/>
                </a:solidFill>
                <a:latin typeface="Aptos"/>
              </a:rPr>
              <a:t>Fullstack Engineer</a:t>
            </a:r>
          </a:p>
        </p:txBody>
      </p:sp>
      <p:pic>
        <p:nvPicPr>
          <p:cNvPr id="14" name="Picture 13" descr="image.png"/>
          <p:cNvPicPr>
            <a:picLocks noChangeAspect="1"/>
          </p:cNvPicPr>
          <p:nvPr/>
        </p:nvPicPr>
        <p:blipFill>
          <a:blip r:embed="rId14"/>
          <a:stretch>
            <a:fillRect/>
          </a:stretch>
        </p:blipFill>
        <p:spPr>
          <a:xfrm>
            <a:off x="936040" y="3072993"/>
            <a:ext cx="1233220" cy="1233220"/>
          </a:xfrm>
          <a:prstGeom prst="rect">
            <a:avLst/>
          </a:prstGeom>
        </p:spPr>
      </p:pic>
      <p:sp>
        <p:nvSpPr>
          <p:cNvPr id="15" name="TextBox 14"/>
          <p:cNvSpPr txBox="1"/>
          <p:nvPr/>
        </p:nvSpPr>
        <p:spPr>
          <a:xfrm>
            <a:off x="548640" y="4379366"/>
            <a:ext cx="2008022" cy="274320"/>
          </a:xfrm>
          <a:prstGeom prst="rect">
            <a:avLst/>
          </a:prstGeom>
          <a:noFill/>
        </p:spPr>
        <p:txBody>
          <a:bodyPr wrap="none">
            <a:spAutoFit/>
          </a:bodyPr>
          <a:lstStyle/>
          <a:p>
            <a:pPr algn="ctr"/>
            <a:r>
              <a:rPr sz="1200" b="1">
                <a:solidFill>
                  <a:srgbClr val="FFFFFF"/>
                </a:solidFill>
                <a:latin typeface="Aptos"/>
              </a:rPr>
              <a:t>Kubernetes Expert</a:t>
            </a:r>
          </a:p>
        </p:txBody>
      </p:sp>
      <p:pic>
        <p:nvPicPr>
          <p:cNvPr id="16" name="Picture 15" descr="image.png"/>
          <p:cNvPicPr>
            <a:picLocks noChangeAspect="1"/>
          </p:cNvPicPr>
          <p:nvPr/>
        </p:nvPicPr>
        <p:blipFill>
          <a:blip r:embed="rId11"/>
          <a:stretch>
            <a:fillRect/>
          </a:stretch>
        </p:blipFill>
        <p:spPr>
          <a:xfrm>
            <a:off x="3200095" y="3072993"/>
            <a:ext cx="1233220" cy="1233220"/>
          </a:xfrm>
          <a:prstGeom prst="rect">
            <a:avLst/>
          </a:prstGeom>
        </p:spPr>
      </p:pic>
      <p:sp>
        <p:nvSpPr>
          <p:cNvPr id="17" name="TextBox 16"/>
          <p:cNvSpPr txBox="1"/>
          <p:nvPr/>
        </p:nvSpPr>
        <p:spPr>
          <a:xfrm>
            <a:off x="2812694" y="4379366"/>
            <a:ext cx="2008022" cy="274320"/>
          </a:xfrm>
          <a:prstGeom prst="rect">
            <a:avLst/>
          </a:prstGeom>
          <a:noFill/>
        </p:spPr>
        <p:txBody>
          <a:bodyPr wrap="none">
            <a:spAutoFit/>
          </a:bodyPr>
          <a:lstStyle/>
          <a:p>
            <a:pPr algn="ctr"/>
            <a:r>
              <a:rPr sz="1200" b="1">
                <a:solidFill>
                  <a:srgbClr val="FFFFFF"/>
                </a:solidFill>
                <a:latin typeface="Aptos"/>
              </a:rPr>
              <a:t>MCP Expert</a:t>
            </a:r>
          </a:p>
        </p:txBody>
      </p:sp>
      <p:pic>
        <p:nvPicPr>
          <p:cNvPr id="18" name="Picture 17" descr="image.png"/>
          <p:cNvPicPr>
            <a:picLocks noChangeAspect="1"/>
          </p:cNvPicPr>
          <p:nvPr/>
        </p:nvPicPr>
        <p:blipFill>
          <a:blip r:embed="rId8"/>
          <a:stretch>
            <a:fillRect/>
          </a:stretch>
        </p:blipFill>
        <p:spPr>
          <a:xfrm>
            <a:off x="5464149" y="3072993"/>
            <a:ext cx="1233220" cy="1233220"/>
          </a:xfrm>
          <a:prstGeom prst="rect">
            <a:avLst/>
          </a:prstGeom>
        </p:spPr>
      </p:pic>
      <p:sp>
        <p:nvSpPr>
          <p:cNvPr id="19" name="TextBox 18"/>
          <p:cNvSpPr txBox="1"/>
          <p:nvPr/>
        </p:nvSpPr>
        <p:spPr>
          <a:xfrm>
            <a:off x="5076748" y="4379366"/>
            <a:ext cx="2008022" cy="274320"/>
          </a:xfrm>
          <a:prstGeom prst="rect">
            <a:avLst/>
          </a:prstGeom>
          <a:noFill/>
        </p:spPr>
        <p:txBody>
          <a:bodyPr wrap="none">
            <a:spAutoFit/>
          </a:bodyPr>
          <a:lstStyle/>
          <a:p>
            <a:pPr algn="ctr"/>
            <a:r>
              <a:rPr sz="1200" b="1">
                <a:solidFill>
                  <a:srgbClr val="FFFFFF"/>
                </a:solidFill>
                <a:latin typeface="Aptos"/>
              </a:rPr>
              <a:t>Platform Architect</a:t>
            </a:r>
          </a:p>
        </p:txBody>
      </p:sp>
      <p:pic>
        <p:nvPicPr>
          <p:cNvPr id="20" name="Picture 19" descr="image.png"/>
          <p:cNvPicPr>
            <a:picLocks noChangeAspect="1"/>
          </p:cNvPicPr>
          <p:nvPr/>
        </p:nvPicPr>
        <p:blipFill>
          <a:blip r:embed="rId15"/>
          <a:stretch>
            <a:fillRect/>
          </a:stretch>
        </p:blipFill>
        <p:spPr>
          <a:xfrm>
            <a:off x="7728204" y="3072993"/>
            <a:ext cx="1233220" cy="1233220"/>
          </a:xfrm>
          <a:prstGeom prst="rect">
            <a:avLst/>
          </a:prstGeom>
        </p:spPr>
      </p:pic>
      <p:sp>
        <p:nvSpPr>
          <p:cNvPr id="21" name="TextBox 20"/>
          <p:cNvSpPr txBox="1"/>
          <p:nvPr/>
        </p:nvSpPr>
        <p:spPr>
          <a:xfrm>
            <a:off x="7340803" y="4379366"/>
            <a:ext cx="2008022" cy="274320"/>
          </a:xfrm>
          <a:prstGeom prst="rect">
            <a:avLst/>
          </a:prstGeom>
          <a:noFill/>
        </p:spPr>
        <p:txBody>
          <a:bodyPr wrap="none">
            <a:spAutoFit/>
          </a:bodyPr>
          <a:lstStyle/>
          <a:p>
            <a:pPr algn="ctr"/>
            <a:r>
              <a:rPr sz="1200" b="1">
                <a:solidFill>
                  <a:srgbClr val="FFFFFF"/>
                </a:solidFill>
                <a:latin typeface="Aptos"/>
              </a:rPr>
              <a:t>Pull Request Reviewer</a:t>
            </a:r>
          </a:p>
        </p:txBody>
      </p:sp>
      <p:pic>
        <p:nvPicPr>
          <p:cNvPr id="22" name="Picture 21" descr="image.png"/>
          <p:cNvPicPr>
            <a:picLocks noChangeAspect="1"/>
          </p:cNvPicPr>
          <p:nvPr/>
        </p:nvPicPr>
        <p:blipFill>
          <a:blip r:embed="rId3"/>
          <a:stretch>
            <a:fillRect/>
          </a:stretch>
        </p:blipFill>
        <p:spPr>
          <a:xfrm>
            <a:off x="9992258" y="3072993"/>
            <a:ext cx="1233220" cy="1233220"/>
          </a:xfrm>
          <a:prstGeom prst="rect">
            <a:avLst/>
          </a:prstGeom>
        </p:spPr>
      </p:pic>
      <p:sp>
        <p:nvSpPr>
          <p:cNvPr id="23" name="TextBox 22"/>
          <p:cNvSpPr txBox="1"/>
          <p:nvPr/>
        </p:nvSpPr>
        <p:spPr>
          <a:xfrm>
            <a:off x="9604857" y="4379366"/>
            <a:ext cx="2008022" cy="274320"/>
          </a:xfrm>
          <a:prstGeom prst="rect">
            <a:avLst/>
          </a:prstGeom>
          <a:noFill/>
        </p:spPr>
        <p:txBody>
          <a:bodyPr wrap="none">
            <a:spAutoFit/>
          </a:bodyPr>
          <a:lstStyle/>
          <a:p>
            <a:pPr algn="ctr"/>
            <a:r>
              <a:rPr sz="1200" b="1">
                <a:solidFill>
                  <a:srgbClr val="FFFFFF"/>
                </a:solidFill>
                <a:latin typeface="Aptos"/>
              </a:rPr>
              <a:t>Quality Expert</a:t>
            </a:r>
          </a:p>
        </p:txBody>
      </p:sp>
      <p:pic>
        <p:nvPicPr>
          <p:cNvPr id="24" name="Picture 23" descr="ppt-polaroid-portrait-pdck1u2i.png"/>
          <p:cNvPicPr>
            <a:picLocks noChangeAspect="1"/>
          </p:cNvPicPr>
          <p:nvPr/>
        </p:nvPicPr>
        <p:blipFill>
          <a:blip r:embed="rId21"/>
          <a:stretch>
            <a:fillRect/>
          </a:stretch>
        </p:blipFill>
        <p:spPr>
          <a:xfrm>
            <a:off x="936040" y="4886553"/>
            <a:ext cx="1233220" cy="1233220"/>
          </a:xfrm>
          <a:prstGeom prst="rect">
            <a:avLst/>
          </a:prstGeom>
        </p:spPr>
      </p:pic>
      <p:sp>
        <p:nvSpPr>
          <p:cNvPr id="25" name="TextBox 24"/>
          <p:cNvSpPr txBox="1"/>
          <p:nvPr/>
        </p:nvSpPr>
        <p:spPr>
          <a:xfrm>
            <a:off x="548640" y="6192926"/>
            <a:ext cx="2008022" cy="274320"/>
          </a:xfrm>
          <a:prstGeom prst="rect">
            <a:avLst/>
          </a:prstGeom>
          <a:noFill/>
        </p:spPr>
        <p:txBody>
          <a:bodyPr wrap="none">
            <a:spAutoFit/>
          </a:bodyPr>
          <a:lstStyle/>
          <a:p>
            <a:pPr algn="ctr"/>
            <a:r>
              <a:rPr sz="1200" b="1">
                <a:solidFill>
                  <a:srgbClr val="FFFFFF"/>
                </a:solidFill>
                <a:latin typeface="Aptos"/>
              </a:rPr>
              <a:t>Quantum Expert</a:t>
            </a:r>
          </a:p>
        </p:txBody>
      </p:sp>
      <p:pic>
        <p:nvPicPr>
          <p:cNvPr id="26" name="Picture 25" descr="image.png"/>
          <p:cNvPicPr>
            <a:picLocks noChangeAspect="1"/>
          </p:cNvPicPr>
          <p:nvPr/>
        </p:nvPicPr>
        <p:blipFill>
          <a:blip r:embed="rId13"/>
          <a:stretch>
            <a:fillRect/>
          </a:stretch>
        </p:blipFill>
        <p:spPr>
          <a:xfrm>
            <a:off x="3200095" y="4886553"/>
            <a:ext cx="1233220" cy="1233220"/>
          </a:xfrm>
          <a:prstGeom prst="rect">
            <a:avLst/>
          </a:prstGeom>
        </p:spPr>
      </p:pic>
      <p:sp>
        <p:nvSpPr>
          <p:cNvPr id="27" name="TextBox 26"/>
          <p:cNvSpPr txBox="1"/>
          <p:nvPr/>
        </p:nvSpPr>
        <p:spPr>
          <a:xfrm>
            <a:off x="2812694" y="6192926"/>
            <a:ext cx="2008022" cy="274320"/>
          </a:xfrm>
          <a:prstGeom prst="rect">
            <a:avLst/>
          </a:prstGeom>
          <a:noFill/>
        </p:spPr>
        <p:txBody>
          <a:bodyPr wrap="none">
            <a:spAutoFit/>
          </a:bodyPr>
          <a:lstStyle/>
          <a:p>
            <a:pPr algn="ctr"/>
            <a:r>
              <a:rPr sz="1200" b="1">
                <a:solidFill>
                  <a:srgbClr val="FFFFFF"/>
                </a:solidFill>
                <a:latin typeface="Aptos"/>
              </a:rPr>
              <a:t>Security Expert</a:t>
            </a:r>
          </a:p>
        </p:txBody>
      </p:sp>
      <p:pic>
        <p:nvPicPr>
          <p:cNvPr id="28" name="Picture 27" descr="image.png"/>
          <p:cNvPicPr>
            <a:picLocks noChangeAspect="1"/>
          </p:cNvPicPr>
          <p:nvPr/>
        </p:nvPicPr>
        <p:blipFill>
          <a:blip r:embed="rId7"/>
          <a:stretch>
            <a:fillRect/>
          </a:stretch>
        </p:blipFill>
        <p:spPr>
          <a:xfrm>
            <a:off x="5464149" y="4886553"/>
            <a:ext cx="1233220" cy="1233220"/>
          </a:xfrm>
          <a:prstGeom prst="rect">
            <a:avLst/>
          </a:prstGeom>
        </p:spPr>
      </p:pic>
      <p:sp>
        <p:nvSpPr>
          <p:cNvPr id="29" name="TextBox 28"/>
          <p:cNvSpPr txBox="1"/>
          <p:nvPr/>
        </p:nvSpPr>
        <p:spPr>
          <a:xfrm>
            <a:off x="5076748" y="6192926"/>
            <a:ext cx="2008022" cy="274320"/>
          </a:xfrm>
          <a:prstGeom prst="rect">
            <a:avLst/>
          </a:prstGeom>
          <a:noFill/>
        </p:spPr>
        <p:txBody>
          <a:bodyPr wrap="none">
            <a:spAutoFit/>
          </a:bodyPr>
          <a:lstStyle/>
          <a:p>
            <a:pPr algn="ctr"/>
            <a:r>
              <a:rPr sz="1200" b="1">
                <a:solidFill>
                  <a:srgbClr val="FFFFFF"/>
                </a:solidFill>
                <a:latin typeface="Aptos"/>
              </a:rPr>
              <a:t>User Standard</a:t>
            </a:r>
          </a:p>
        </p:txBody>
      </p:sp>
      <p:pic>
        <p:nvPicPr>
          <p:cNvPr id="30" name="Picture 29" descr="image.png"/>
          <p:cNvPicPr>
            <a:picLocks noChangeAspect="1"/>
          </p:cNvPicPr>
          <p:nvPr/>
        </p:nvPicPr>
        <p:blipFill>
          <a:blip r:embed="rId9"/>
          <a:stretch>
            <a:fillRect/>
          </a:stretch>
        </p:blipFill>
        <p:spPr>
          <a:xfrm>
            <a:off x="7728204" y="4886553"/>
            <a:ext cx="1233220" cy="1233220"/>
          </a:xfrm>
          <a:prstGeom prst="rect">
            <a:avLst/>
          </a:prstGeom>
        </p:spPr>
      </p:pic>
      <p:sp>
        <p:nvSpPr>
          <p:cNvPr id="31" name="TextBox 30"/>
          <p:cNvSpPr txBox="1"/>
          <p:nvPr/>
        </p:nvSpPr>
        <p:spPr>
          <a:xfrm>
            <a:off x="7340803" y="6192926"/>
            <a:ext cx="2008022" cy="274320"/>
          </a:xfrm>
          <a:prstGeom prst="rect">
            <a:avLst/>
          </a:prstGeom>
          <a:noFill/>
        </p:spPr>
        <p:txBody>
          <a:bodyPr wrap="none">
            <a:spAutoFit/>
          </a:bodyPr>
          <a:lstStyle/>
          <a:p>
            <a:pPr algn="ctr"/>
            <a:r>
              <a:rPr sz="1200" b="1">
                <a:solidFill>
                  <a:srgbClr val="FFFFFF"/>
                </a:solidFill>
                <a:latin typeface="Aptos"/>
              </a:rPr>
              <a:t>UX Designer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bg-4ivxuxpp.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1828800"/>
            <a:ext cx="10058400" cy="1828800"/>
          </a:xfrm>
          <a:prstGeom prst="rect">
            <a:avLst/>
          </a:prstGeom>
          <a:noFill/>
        </p:spPr>
        <p:txBody>
          <a:bodyPr wrap="none">
            <a:spAutoFit/>
          </a:bodyPr>
          <a:lstStyle/>
          <a:p>
            <a:r>
              <a:rPr sz="2600" b="1">
                <a:solidFill>
                  <a:srgbClr val="FFFFFF"/>
                </a:solidFill>
              </a:rPr>
              <a:t>Thank You and Next Decision</a:t>
            </a:r>
          </a:p>
        </p:txBody>
      </p:sp>
      <p:sp>
        <p:nvSpPr>
          <p:cNvPr id="4" name="TextBox 3"/>
          <p:cNvSpPr txBox="1"/>
          <p:nvPr/>
        </p:nvSpPr>
        <p:spPr>
          <a:xfrm>
            <a:off x="914400" y="3840480"/>
            <a:ext cx="10058400" cy="731520"/>
          </a:xfrm>
          <a:prstGeom prst="rect">
            <a:avLst/>
          </a:prstGeom>
          <a:noFill/>
        </p:spPr>
        <p:txBody>
          <a:bodyPr wrap="none">
            <a:spAutoFit/>
          </a:bodyPr>
          <a:lstStyle/>
          <a:p>
            <a:pPr algn="l">
              <a:spcAft>
                <a:spcPts val="600"/>
              </a:spcAft>
            </a:pPr>
            <a:r>
              <a:rPr sz="1600" b="0">
                <a:solidFill>
                  <a:srgbClr val="E5E7EB"/>
                </a:solidFill>
              </a:rPr>
              <a:t>Next step: confirm owners, close blockers, and approve the next delivery checkpoint status.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solidFill>
              <a:srgbClr val="0714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515600" cy="1280160"/>
          </a:xfrm>
          <a:prstGeom prst="rect">
            <a:avLst/>
          </a:prstGeom>
          <a:noFill/>
        </p:spPr>
        <p:txBody>
          <a:bodyPr wrap="none">
            <a:spAutoFit/>
          </a:bodyPr>
          <a:lstStyle/>
          <a:p>
            <a:r>
              <a:rPr sz="4800" b="1">
                <a:solidFill>
                  <a:srgbClr val="16E0BD"/>
                </a:solidFill>
                <a:latin typeface="Aptos Display"/>
              </a:rPr>
              <a:t>BACKUP</a:t>
            </a:r>
          </a:p>
        </p:txBody>
      </p:sp>
      <p:sp>
        <p:nvSpPr>
          <p:cNvPr id="4" name="TextBox 3"/>
          <p:cNvSpPr txBox="1"/>
          <p:nvPr/>
        </p:nvSpPr>
        <p:spPr>
          <a:xfrm>
            <a:off x="731520" y="4023360"/>
            <a:ext cx="10515600" cy="640080"/>
          </a:xfrm>
          <a:prstGeom prst="rect">
            <a:avLst/>
          </a:prstGeom>
          <a:noFill/>
        </p:spPr>
        <p:txBody>
          <a:bodyPr wrap="none">
            <a:spAutoFit/>
          </a:bodyPr>
          <a:lstStyle/>
          <a:p>
            <a:r>
              <a:rPr sz="1600">
                <a:solidFill>
                  <a:srgbClr val="E5E7EB"/>
                </a:solidFill>
                <a:latin typeface="Aptos"/>
              </a:rPr>
              <a:t>Template source slides below — for reference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